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project is a computational history of artificial intelligence — not the technology, but the discourse. I treat media coverage of AI as a primary source, and ask when and how the way we talk about AI actually changed, across more than thirty years.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starting point is Kate Crawford's Atlas of AI. She argues powerfully that AI is a system of power and extraction — but it's a qualitative argument. She never shows, computationally, WHEN public discourse shifted or HOW FAST. That's the gap I fill, with 30 years of book data and 13 years of global news data. And I flip the usual question: not what AI can do for historians, but what historians can do with AI discourse as a source. My second frame: this looks a lot like nuclear anxiety in the 1950s and 60s.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evidence. Conventional sources frame the project — Crawford's book, print archives like Wired, TIME and the Economist, and policy documents. Digital sources give me the numbers — Google Ngram for books, Media Cloud for news, and GDELT. The method pairs quantitative pattern detection with qualitative interpretation, adapting Dr. Woo's work on semantic shifts in Cold War newspapers. And it's all reproducible — one script, public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one — the first surprise: the story starts with DECLINE. The blue line, 'artificial intelligence,' falls through the 1990s — the AI Winter, when the term became almost embarrassing. But the red line, 'machine learning,' rises and overtakes it around 2013. The field didn't quit; it rebranded around concrete method.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two: how AI came back. The technology started working — deep learning around 2012 — and there was public spectacle, above all AlphaGo beating the world's best Go player in 2016. News coverage climbs from a few thousand to tens of thousands of articles a year.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three: the explosion. ChatGPT, late 2022. But raw counts can mislead, so I measure AI's SHARE of all coverage. Even controlling for the growth of news, it more than doubled in one year — to about 1% of everything in the press. A real shift in attention.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twist — and this is where I push back on the obvious story. The conventional narrative is optimism turning to fear. But look at the tone of AI coverage: it's negative EVERY single year, around minus five, even back in 2010. There was no golden age of optimism to fall from. I'm honest about the data — the early years are small samples, marked hollow — but the pattern is clear.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my argument. AI discourse didn't drift from hope to fear; it was wary from the start. What actually changed was SCALE — the explosion of attention after AlphaGo and ChatGPT — and POLITICAL SALIENCE: AI went from a scientific keyword to a geopolitical one, tied to US-China competition and existential risk. The anxiety isn't new; its scale and its politics are. And that's the same template societies used for nuclear fear in the 1950s and 60s.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skeptic should ask: what if the 2023 spike is just a Media Cloud quirk? So I test it against GDELT's normalized measure. Two datasets, different teams, different methods — yet they track closely and in 2023 land at almost the same value, 1.04 versus 1.05 percent. The surge is real.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I'm proudest of. I almost used GDELT as my main news source — but its raw counts go from 347 to 53,000 to 3.9 MILLION in two years. That's not AI exploding; it's GDELT expanding its own sources in 2015. The instrument changed, not the world. So I use only its time-comparable metrics. This source criticism is the actual scholarship.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books recorded a quiet rebranding; news recorded an explosion in scale and political salience. The shift was scale and politics, not optimism to fear. By treating AI coverage as a primary source, I extend Crawford's argument with the quantitative evidence it was missing — and show how societies negotiate power, fear, and technological change.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my project. The interactive exhibit and all the code and data are online.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365760"/>
          </a:xfrm>
          <a:prstGeom prst="rect">
            <a:avLst/>
          </a:prstGeom>
          <a:noFill/>
        </p:spPr>
        <p:txBody>
          <a:bodyPr wrap="square" anchor="t">
            <a:spAutoFit/>
          </a:bodyPr>
          <a:lstStyle/>
          <a:p>
            <a:pPr algn="ctr">
              <a:lnSpc>
                <a:spcPct val="100000"/>
              </a:lnSpc>
            </a:pPr>
            <a:r>
              <a:rPr sz="1500" b="1" i="0">
                <a:solidFill>
                  <a:srgbClr val="B8860B"/>
                </a:solidFill>
                <a:latin typeface="Calibri"/>
              </a:rPr>
              <a:t>KAIST · DIGITAL HISTORY</a:t>
            </a:r>
          </a:p>
        </p:txBody>
      </p:sp>
      <p:sp>
        <p:nvSpPr>
          <p:cNvPr id="5" name="TextBox 4"/>
          <p:cNvSpPr txBox="1"/>
          <p:nvPr/>
        </p:nvSpPr>
        <p:spPr>
          <a:xfrm>
            <a:off x="914400" y="2240280"/>
            <a:ext cx="10332720" cy="1828800"/>
          </a:xfrm>
          <a:prstGeom prst="rect">
            <a:avLst/>
          </a:prstGeom>
          <a:noFill/>
        </p:spPr>
        <p:txBody>
          <a:bodyPr wrap="square" anchor="t">
            <a:spAutoFit/>
          </a:bodyPr>
          <a:lstStyle/>
          <a:p>
            <a:pPr algn="ctr">
              <a:lnSpc>
                <a:spcPct val="100000"/>
              </a:lnSpc>
            </a:pPr>
            <a:r>
              <a:rPr sz="4400" b="1" i="0">
                <a:solidFill>
                  <a:srgbClr val="1A1D24"/>
                </a:solidFill>
                <a:latin typeface="Calibri"/>
              </a:rPr>
              <a:t>From Scientific Optimism</a:t>
            </a:r>
          </a:p>
          <a:p>
            <a:pPr algn="ctr">
              <a:lnSpc>
                <a:spcPct val="100000"/>
              </a:lnSpc>
            </a:pPr>
            <a:r>
              <a:rPr sz="4400" b="1" i="0">
                <a:solidFill>
                  <a:srgbClr val="1A1D24"/>
                </a:solidFill>
                <a:latin typeface="Calibri"/>
              </a:rPr>
              <a:t>to Geopolitical Anxiety</a:t>
            </a:r>
          </a:p>
        </p:txBody>
      </p:sp>
      <p:sp>
        <p:nvSpPr>
          <p:cNvPr id="6" name="TextBox 5"/>
          <p:cNvSpPr txBox="1"/>
          <p:nvPr/>
        </p:nvSpPr>
        <p:spPr>
          <a:xfrm>
            <a:off x="914400" y="4114800"/>
            <a:ext cx="10332720" cy="548640"/>
          </a:xfrm>
          <a:prstGeom prst="rect">
            <a:avLst/>
          </a:prstGeom>
          <a:noFill/>
        </p:spPr>
        <p:txBody>
          <a:bodyPr wrap="square" anchor="t">
            <a:spAutoFit/>
          </a:bodyPr>
          <a:lstStyle/>
          <a:p>
            <a:pPr algn="ctr">
              <a:lnSpc>
                <a:spcPct val="100000"/>
              </a:lnSpc>
            </a:pPr>
            <a:r>
              <a:rPr sz="2100" b="0" i="0">
                <a:solidFill>
                  <a:srgbClr val="5B6470"/>
                </a:solidFill>
                <a:latin typeface="Calibri"/>
              </a:rPr>
              <a:t>A Computational History of AI Discourse  ·  1990–2023</a:t>
            </a:r>
          </a:p>
        </p:txBody>
      </p:sp>
      <p:sp>
        <p:nvSpPr>
          <p:cNvPr id="7" name="TextBox 6"/>
          <p:cNvSpPr txBox="1"/>
          <p:nvPr/>
        </p:nvSpPr>
        <p:spPr>
          <a:xfrm>
            <a:off x="914400" y="4983480"/>
            <a:ext cx="10332720" cy="365760"/>
          </a:xfrm>
          <a:prstGeom prst="rect">
            <a:avLst/>
          </a:prstGeom>
          <a:noFill/>
        </p:spPr>
        <p:txBody>
          <a:bodyPr wrap="square" anchor="t">
            <a:spAutoFit/>
          </a:bodyPr>
          <a:lstStyle/>
          <a:p>
            <a:pPr algn="ctr">
              <a:lnSpc>
                <a:spcPct val="100000"/>
              </a:lnSpc>
            </a:pPr>
            <a:r>
              <a:rPr sz="1500" b="0" i="0">
                <a:solidFill>
                  <a:srgbClr val="2E75B6"/>
                </a:solidFill>
                <a:latin typeface="Calibri"/>
              </a:rPr>
              <a:t>potchara1411.github.io/Digital-history-project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THE GAP</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3000" b="1" i="0">
                <a:solidFill>
                  <a:srgbClr val="1A1D24"/>
                </a:solidFill>
                <a:latin typeface="Calibri"/>
              </a:rPr>
              <a:t>Filling a gap in Crawford's Atlas of AI</a:t>
            </a:r>
          </a:p>
        </p:txBody>
      </p:sp>
      <p:sp>
        <p:nvSpPr>
          <p:cNvPr id="5" name="TextBox 4"/>
          <p:cNvSpPr txBox="1"/>
          <p:nvPr/>
        </p:nvSpPr>
        <p:spPr>
          <a:xfrm>
            <a:off x="1051560" y="1828800"/>
            <a:ext cx="10332720" cy="3931920"/>
          </a:xfrm>
          <a:prstGeom prst="rect">
            <a:avLst/>
          </a:prstGeom>
          <a:noFill/>
        </p:spPr>
        <p:txBody>
          <a:bodyPr wrap="square">
            <a:spAutoFit/>
          </a:bodyPr>
          <a:lstStyle/>
          <a:p>
            <a:pPr>
              <a:lnSpc>
                <a:spcPct val="105000"/>
              </a:lnSpc>
              <a:spcAft>
                <a:spcPts val="1600"/>
              </a:spcAft>
            </a:pPr>
            <a:r>
              <a:rPr sz="1900" b="1">
                <a:solidFill>
                  <a:srgbClr val="B8860B"/>
                </a:solidFill>
                <a:latin typeface="Calibri"/>
              </a:rPr>
              <a:t>•  </a:t>
            </a:r>
            <a:r>
              <a:rPr sz="1900">
                <a:solidFill>
                  <a:srgbClr val="1A1D24"/>
                </a:solidFill>
                <a:latin typeface="Calibri"/>
              </a:rPr>
              <a:t>Kate Crawford's Atlas of AI (2021) argues AI is a system of power and extraction — but qualitatively. It never proves computationally WHEN public discourse shifted, or HOW FAST.</a:t>
            </a:r>
          </a:p>
          <a:p>
            <a:pPr>
              <a:lnSpc>
                <a:spcPct val="105000"/>
              </a:lnSpc>
              <a:spcAft>
                <a:spcPts val="1600"/>
              </a:spcAft>
            </a:pPr>
            <a:r>
              <a:rPr sz="1900" b="1">
                <a:solidFill>
                  <a:srgbClr val="B8860B"/>
                </a:solidFill>
                <a:latin typeface="Calibri"/>
              </a:rPr>
              <a:t>•  </a:t>
            </a:r>
            <a:r>
              <a:rPr sz="1900">
                <a:solidFill>
                  <a:srgbClr val="1A1D24"/>
                </a:solidFill>
                <a:latin typeface="Calibri"/>
              </a:rPr>
              <a:t>This project supplies that evidence: 30 years of book data + 13 years of global news data, locating the turning points and measuring their speed.</a:t>
            </a:r>
          </a:p>
          <a:p>
            <a:pPr>
              <a:lnSpc>
                <a:spcPct val="105000"/>
              </a:lnSpc>
              <a:spcAft>
                <a:spcPts val="1600"/>
              </a:spcAft>
            </a:pPr>
            <a:r>
              <a:rPr sz="1900" b="1">
                <a:solidFill>
                  <a:srgbClr val="B8860B"/>
                </a:solidFill>
                <a:latin typeface="Calibri"/>
              </a:rPr>
              <a:t>•  </a:t>
            </a:r>
            <a:r>
              <a:rPr sz="1900">
                <a:solidFill>
                  <a:srgbClr val="1A1D24"/>
                </a:solidFill>
                <a:latin typeface="Calibri"/>
              </a:rPr>
              <a:t>It flips the question — not “what can AI do for historians?” but “what can historians do with AI discourse as a primary source?”</a:t>
            </a:r>
          </a:p>
          <a:p>
            <a:pPr>
              <a:lnSpc>
                <a:spcPct val="105000"/>
              </a:lnSpc>
              <a:spcAft>
                <a:spcPts val="1600"/>
              </a:spcAft>
            </a:pPr>
            <a:r>
              <a:rPr sz="1900" b="1">
                <a:solidFill>
                  <a:srgbClr val="B8860B"/>
                </a:solidFill>
                <a:latin typeface="Calibri"/>
              </a:rPr>
              <a:t>•  </a:t>
            </a:r>
            <a:r>
              <a:rPr sz="1900">
                <a:solidFill>
                  <a:srgbClr val="5B6470"/>
                </a:solidFill>
                <a:latin typeface="Calibri"/>
              </a:rPr>
              <a:t>Secondary frame: AI anxiety (2010s–20s) reuses the template of nuclear anxiety (1950s–60s).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DATA &amp; METHOD</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3000" b="1" i="0">
                <a:solidFill>
                  <a:srgbClr val="1A1D24"/>
                </a:solidFill>
                <a:latin typeface="Calibri"/>
              </a:rPr>
              <a:t>Two kinds of evidence</a:t>
            </a:r>
          </a:p>
        </p:txBody>
      </p:sp>
      <p:sp>
        <p:nvSpPr>
          <p:cNvPr id="5" name="TextBox 4"/>
          <p:cNvSpPr txBox="1"/>
          <p:nvPr/>
        </p:nvSpPr>
        <p:spPr>
          <a:xfrm>
            <a:off x="1051560" y="1828800"/>
            <a:ext cx="10332720" cy="3931920"/>
          </a:xfrm>
          <a:prstGeom prst="rect">
            <a:avLst/>
          </a:prstGeom>
          <a:noFill/>
        </p:spPr>
        <p:txBody>
          <a:bodyPr wrap="square">
            <a:spAutoFit/>
          </a:bodyPr>
          <a:lstStyle/>
          <a:p>
            <a:pPr>
              <a:lnSpc>
                <a:spcPct val="105000"/>
              </a:lnSpc>
              <a:spcAft>
                <a:spcPts val="1600"/>
              </a:spcAft>
            </a:pPr>
            <a:r>
              <a:rPr sz="1900" b="1">
                <a:solidFill>
                  <a:srgbClr val="B8860B"/>
                </a:solidFill>
                <a:latin typeface="Calibri"/>
              </a:rPr>
              <a:t>•  </a:t>
            </a:r>
            <a:r>
              <a:rPr sz="1900">
                <a:solidFill>
                  <a:srgbClr val="1A1D24"/>
                </a:solidFill>
                <a:latin typeface="Calibri"/>
              </a:rPr>
              <a:t>Conventional sources frame the project: Crawford's Atlas of AI; print archives (Wired, TIME, The Economist); government &amp; policy documents.</a:t>
            </a:r>
          </a:p>
          <a:p>
            <a:pPr>
              <a:lnSpc>
                <a:spcPct val="105000"/>
              </a:lnSpc>
              <a:spcAft>
                <a:spcPts val="1600"/>
              </a:spcAft>
            </a:pPr>
            <a:r>
              <a:rPr sz="1900" b="1">
                <a:solidFill>
                  <a:srgbClr val="B8860B"/>
                </a:solidFill>
                <a:latin typeface="Calibri"/>
              </a:rPr>
              <a:t>•  </a:t>
            </a:r>
            <a:r>
              <a:rPr sz="1900">
                <a:solidFill>
                  <a:srgbClr val="1A1D24"/>
                </a:solidFill>
                <a:latin typeface="Calibri"/>
              </a:rPr>
              <a:t>Digital sources provide the numbers: Google Ngram (books, 1990–2019); Media Cloud (news, 2010–2023); GDELT (normalized coverage + tone).</a:t>
            </a:r>
          </a:p>
          <a:p>
            <a:pPr>
              <a:lnSpc>
                <a:spcPct val="105000"/>
              </a:lnSpc>
              <a:spcAft>
                <a:spcPts val="1600"/>
              </a:spcAft>
            </a:pPr>
            <a:r>
              <a:rPr sz="1900" b="1">
                <a:solidFill>
                  <a:srgbClr val="B8860B"/>
                </a:solidFill>
                <a:latin typeface="Calibri"/>
              </a:rPr>
              <a:t>•  </a:t>
            </a:r>
            <a:r>
              <a:rPr sz="1900">
                <a:solidFill>
                  <a:srgbClr val="1A1D24"/>
                </a:solidFill>
                <a:latin typeface="Calibri"/>
              </a:rPr>
              <a:t>Method: quantitative pattern detection + qualitative interpretation — adapting Dr. Woo's semantic-shift approach to Cold War newspapers.</a:t>
            </a:r>
          </a:p>
          <a:p>
            <a:pPr>
              <a:lnSpc>
                <a:spcPct val="105000"/>
              </a:lnSpc>
              <a:spcAft>
                <a:spcPts val="1600"/>
              </a:spcAft>
            </a:pPr>
            <a:r>
              <a:rPr sz="1900" b="1">
                <a:solidFill>
                  <a:srgbClr val="B8860B"/>
                </a:solidFill>
                <a:latin typeface="Calibri"/>
              </a:rPr>
              <a:t>•  </a:t>
            </a:r>
            <a:r>
              <a:rPr sz="1900">
                <a:solidFill>
                  <a:srgbClr val="5B6470"/>
                </a:solidFill>
                <a:latin typeface="Calibri"/>
              </a:rPr>
              <a:t>Fully reproducible: every chart is built by one Python script from public CSVs.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ACT I · 1990–2013</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2800" b="1" i="0">
                <a:solidFill>
                  <a:srgbClr val="1A1D24"/>
                </a:solidFill>
                <a:latin typeface="Calibri"/>
              </a:rPr>
              <a:t>The Winter and the Rebranding</a:t>
            </a:r>
          </a:p>
        </p:txBody>
      </p:sp>
      <p:sp>
        <p:nvSpPr>
          <p:cNvPr id="5" name="TextBox 4"/>
          <p:cNvSpPr txBox="1"/>
          <p:nvPr/>
        </p:nvSpPr>
        <p:spPr>
          <a:xfrm>
            <a:off x="868680" y="1572768"/>
            <a:ext cx="10607040" cy="914400"/>
          </a:xfrm>
          <a:prstGeom prst="rect">
            <a:avLst/>
          </a:prstGeom>
          <a:noFill/>
        </p:spPr>
        <p:txBody>
          <a:bodyPr wrap="square">
            <a:spAutoFit/>
          </a:bodyPr>
          <a:lstStyle/>
          <a:p>
            <a:pPr>
              <a:lnSpc>
                <a:spcPct val="105000"/>
              </a:lnSpc>
              <a:spcAft>
                <a:spcPts val="800"/>
              </a:spcAft>
            </a:pPr>
            <a:r>
              <a:rPr sz="1600" b="1">
                <a:solidFill>
                  <a:srgbClr val="B8860B"/>
                </a:solidFill>
                <a:latin typeface="Calibri"/>
              </a:rPr>
              <a:t>•  </a:t>
            </a:r>
            <a:r>
              <a:rPr sz="1600">
                <a:solidFill>
                  <a:srgbClr val="2E75B6"/>
                </a:solidFill>
                <a:latin typeface="Calibri"/>
              </a:rPr>
              <a:t>“Artificial intelligence” DECLINES through the 1990s AI Winter</a:t>
            </a:r>
          </a:p>
          <a:p>
            <a:pPr>
              <a:lnSpc>
                <a:spcPct val="105000"/>
              </a:lnSpc>
              <a:spcAft>
                <a:spcPts val="800"/>
              </a:spcAft>
            </a:pPr>
            <a:r>
              <a:rPr sz="1600" b="1">
                <a:solidFill>
                  <a:srgbClr val="B8860B"/>
                </a:solidFill>
                <a:latin typeface="Calibri"/>
              </a:rPr>
              <a:t>•  </a:t>
            </a:r>
            <a:r>
              <a:rPr sz="1600">
                <a:solidFill>
                  <a:srgbClr val="E74C3C"/>
                </a:solidFill>
                <a:latin typeface="Calibri"/>
              </a:rPr>
              <a:t>“Machine learning” rises and overtakes it ~2013 — the field rebrands around concrete method</a:t>
            </a:r>
          </a:p>
        </p:txBody>
      </p:sp>
      <p:pic>
        <p:nvPicPr>
          <p:cNvPr id="6" name="Picture 5" descr="panel1_ngram.png"/>
          <p:cNvPicPr>
            <a:picLocks noChangeAspect="1"/>
          </p:cNvPicPr>
          <p:nvPr/>
        </p:nvPicPr>
        <p:blipFill>
          <a:blip r:embed="rId2"/>
          <a:stretch>
            <a:fillRect/>
          </a:stretch>
        </p:blipFill>
        <p:spPr>
          <a:xfrm>
            <a:off x="2037852" y="2606040"/>
            <a:ext cx="8115990" cy="397763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ACT II · 2012–2021</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2800" b="1" i="0">
                <a:solidFill>
                  <a:srgbClr val="1A1D24"/>
                </a:solidFill>
                <a:latin typeface="Calibri"/>
              </a:rPr>
              <a:t>Back into the Light</a:t>
            </a:r>
          </a:p>
        </p:txBody>
      </p:sp>
      <p:sp>
        <p:nvSpPr>
          <p:cNvPr id="5" name="TextBox 4"/>
          <p:cNvSpPr txBox="1"/>
          <p:nvPr/>
        </p:nvSpPr>
        <p:spPr>
          <a:xfrm>
            <a:off x="868680" y="1572768"/>
            <a:ext cx="10607040" cy="914400"/>
          </a:xfrm>
          <a:prstGeom prst="rect">
            <a:avLst/>
          </a:prstGeom>
          <a:noFill/>
        </p:spPr>
        <p:txBody>
          <a:bodyPr wrap="square">
            <a:spAutoFit/>
          </a:bodyPr>
          <a:lstStyle/>
          <a:p>
            <a:pPr>
              <a:lnSpc>
                <a:spcPct val="105000"/>
              </a:lnSpc>
              <a:spcAft>
                <a:spcPts val="800"/>
              </a:spcAft>
            </a:pPr>
            <a:r>
              <a:rPr sz="1600" b="1">
                <a:solidFill>
                  <a:srgbClr val="B8860B"/>
                </a:solidFill>
                <a:latin typeface="Calibri"/>
              </a:rPr>
              <a:t>•  </a:t>
            </a:r>
            <a:r>
              <a:rPr sz="1600">
                <a:solidFill>
                  <a:srgbClr val="1A1D24"/>
                </a:solidFill>
                <a:latin typeface="Calibri"/>
              </a:rPr>
              <a:t>Deep learning works (2012 ImageNet); AlphaGo stuns the public (2016)</a:t>
            </a:r>
          </a:p>
          <a:p>
            <a:pPr>
              <a:lnSpc>
                <a:spcPct val="105000"/>
              </a:lnSpc>
              <a:spcAft>
                <a:spcPts val="800"/>
              </a:spcAft>
            </a:pPr>
            <a:r>
              <a:rPr sz="1600" b="1">
                <a:solidFill>
                  <a:srgbClr val="B8860B"/>
                </a:solidFill>
                <a:latin typeface="Calibri"/>
              </a:rPr>
              <a:t>•  </a:t>
            </a:r>
            <a:r>
              <a:rPr sz="1600">
                <a:solidFill>
                  <a:srgbClr val="1A1D24"/>
                </a:solidFill>
                <a:latin typeface="Calibri"/>
              </a:rPr>
              <a:t>News coverage climbs from a few thousand to tens of thousands of articles a year</a:t>
            </a:r>
          </a:p>
        </p:txBody>
      </p:sp>
      <p:pic>
        <p:nvPicPr>
          <p:cNvPr id="6" name="Picture 5" descr="panel2_volume.png"/>
          <p:cNvPicPr>
            <a:picLocks noChangeAspect="1"/>
          </p:cNvPicPr>
          <p:nvPr/>
        </p:nvPicPr>
        <p:blipFill>
          <a:blip r:embed="rId2"/>
          <a:stretch>
            <a:fillRect/>
          </a:stretch>
        </p:blipFill>
        <p:spPr>
          <a:xfrm>
            <a:off x="2042969" y="2606040"/>
            <a:ext cx="8105756" cy="397763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ACT III · 2022–2023</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2800" b="1" i="0">
                <a:solidFill>
                  <a:srgbClr val="1A1D24"/>
                </a:solidFill>
                <a:latin typeface="Calibri"/>
              </a:rPr>
              <a:t>The ChatGPT Explosion</a:t>
            </a:r>
          </a:p>
        </p:txBody>
      </p:sp>
      <p:sp>
        <p:nvSpPr>
          <p:cNvPr id="5" name="TextBox 4"/>
          <p:cNvSpPr txBox="1"/>
          <p:nvPr/>
        </p:nvSpPr>
        <p:spPr>
          <a:xfrm>
            <a:off x="868680" y="1572768"/>
            <a:ext cx="10607040" cy="914400"/>
          </a:xfrm>
          <a:prstGeom prst="rect">
            <a:avLst/>
          </a:prstGeom>
          <a:noFill/>
        </p:spPr>
        <p:txBody>
          <a:bodyPr wrap="square">
            <a:spAutoFit/>
          </a:bodyPr>
          <a:lstStyle/>
          <a:p>
            <a:pPr>
              <a:lnSpc>
                <a:spcPct val="105000"/>
              </a:lnSpc>
              <a:spcAft>
                <a:spcPts val="800"/>
              </a:spcAft>
            </a:pPr>
            <a:r>
              <a:rPr sz="1600" b="1">
                <a:solidFill>
                  <a:srgbClr val="B8860B"/>
                </a:solidFill>
                <a:latin typeface="Calibri"/>
              </a:rPr>
              <a:t>•  </a:t>
            </a:r>
            <a:r>
              <a:rPr sz="1600">
                <a:solidFill>
                  <a:srgbClr val="1A1D24"/>
                </a:solidFill>
                <a:latin typeface="Calibri"/>
              </a:rPr>
              <a:t>ChatGPT (Nov 2022) puts AI in everyone’s hands</a:t>
            </a:r>
          </a:p>
          <a:p>
            <a:pPr>
              <a:lnSpc>
                <a:spcPct val="105000"/>
              </a:lnSpc>
              <a:spcAft>
                <a:spcPts val="800"/>
              </a:spcAft>
            </a:pPr>
            <a:r>
              <a:rPr sz="1600" b="1">
                <a:solidFill>
                  <a:srgbClr val="B8860B"/>
                </a:solidFill>
                <a:latin typeface="Calibri"/>
              </a:rPr>
              <a:t>•  </a:t>
            </a:r>
            <a:r>
              <a:rPr sz="1600">
                <a:solidFill>
                  <a:srgbClr val="7E4FA8"/>
                </a:solidFill>
                <a:latin typeface="Calibri"/>
              </a:rPr>
              <a:t>AI’s SHARE of all news more than doubles in a year — to ~1% of everything in the press</a:t>
            </a:r>
          </a:p>
        </p:txBody>
      </p:sp>
      <p:pic>
        <p:nvPicPr>
          <p:cNvPr id="6" name="Picture 5" descr="panel3_share.png"/>
          <p:cNvPicPr>
            <a:picLocks noChangeAspect="1"/>
          </p:cNvPicPr>
          <p:nvPr/>
        </p:nvPicPr>
        <p:blipFill>
          <a:blip r:embed="rId2"/>
          <a:stretch>
            <a:fillRect/>
          </a:stretch>
        </p:blipFill>
        <p:spPr>
          <a:xfrm>
            <a:off x="2042969" y="2606040"/>
            <a:ext cx="8105756" cy="397763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THE TWIST</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2800" b="1" i="0">
                <a:solidFill>
                  <a:srgbClr val="1A1D24"/>
                </a:solidFill>
                <a:latin typeface="Calibri"/>
              </a:rPr>
              <a:t>It was never optimism</a:t>
            </a:r>
          </a:p>
        </p:txBody>
      </p:sp>
      <p:sp>
        <p:nvSpPr>
          <p:cNvPr id="5" name="TextBox 4"/>
          <p:cNvSpPr txBox="1"/>
          <p:nvPr/>
        </p:nvSpPr>
        <p:spPr>
          <a:xfrm>
            <a:off x="868680" y="1572768"/>
            <a:ext cx="10607040" cy="914400"/>
          </a:xfrm>
          <a:prstGeom prst="rect">
            <a:avLst/>
          </a:prstGeom>
          <a:noFill/>
        </p:spPr>
        <p:txBody>
          <a:bodyPr wrap="square">
            <a:spAutoFit/>
          </a:bodyPr>
          <a:lstStyle/>
          <a:p>
            <a:pPr>
              <a:lnSpc>
                <a:spcPct val="105000"/>
              </a:lnSpc>
              <a:spcAft>
                <a:spcPts val="800"/>
              </a:spcAft>
            </a:pPr>
            <a:r>
              <a:rPr sz="1600" b="1">
                <a:solidFill>
                  <a:srgbClr val="B8860B"/>
                </a:solidFill>
                <a:latin typeface="Calibri"/>
              </a:rPr>
              <a:t>•  </a:t>
            </a:r>
            <a:r>
              <a:rPr sz="1600">
                <a:solidFill>
                  <a:srgbClr val="E74C3C"/>
                </a:solidFill>
                <a:latin typeface="Calibri"/>
              </a:rPr>
              <a:t>Average tone of AI coverage was NEGATIVE every single year — even in 2010</a:t>
            </a:r>
          </a:p>
          <a:p>
            <a:pPr>
              <a:lnSpc>
                <a:spcPct val="105000"/>
              </a:lnSpc>
              <a:spcAft>
                <a:spcPts val="800"/>
              </a:spcAft>
            </a:pPr>
            <a:r>
              <a:rPr sz="1600" b="1">
                <a:solidFill>
                  <a:srgbClr val="B8860B"/>
                </a:solidFill>
                <a:latin typeface="Calibri"/>
              </a:rPr>
              <a:t>•  </a:t>
            </a:r>
            <a:r>
              <a:rPr sz="1600">
                <a:solidFill>
                  <a:srgbClr val="1A1D24"/>
                </a:solidFill>
                <a:latin typeface="Calibri"/>
              </a:rPr>
              <a:t>There was no golden age of optimism to fall from — the “optimism → fear” story is wrong</a:t>
            </a:r>
          </a:p>
        </p:txBody>
      </p:sp>
      <p:pic>
        <p:nvPicPr>
          <p:cNvPr id="6" name="Picture 5" descr="panel5_tone.png"/>
          <p:cNvPicPr>
            <a:picLocks noChangeAspect="1"/>
          </p:cNvPicPr>
          <p:nvPr/>
        </p:nvPicPr>
        <p:blipFill>
          <a:blip r:embed="rId2"/>
          <a:stretch>
            <a:fillRect/>
          </a:stretch>
        </p:blipFill>
        <p:spPr>
          <a:xfrm>
            <a:off x="2042969" y="2606040"/>
            <a:ext cx="8105756" cy="397763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THE ARGUMENT</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3000" b="1" i="0">
                <a:solidFill>
                  <a:srgbClr val="1A1D24"/>
                </a:solidFill>
                <a:latin typeface="Calibri"/>
              </a:rPr>
              <a:t>Scale and salience — not sentiment</a:t>
            </a:r>
          </a:p>
        </p:txBody>
      </p:sp>
      <p:sp>
        <p:nvSpPr>
          <p:cNvPr id="5" name="TextBox 4"/>
          <p:cNvSpPr txBox="1"/>
          <p:nvPr/>
        </p:nvSpPr>
        <p:spPr>
          <a:xfrm>
            <a:off x="1051560" y="1828800"/>
            <a:ext cx="10332720" cy="3931920"/>
          </a:xfrm>
          <a:prstGeom prst="rect">
            <a:avLst/>
          </a:prstGeom>
          <a:noFill/>
        </p:spPr>
        <p:txBody>
          <a:bodyPr wrap="square">
            <a:spAutoFit/>
          </a:bodyPr>
          <a:lstStyle/>
          <a:p>
            <a:pPr>
              <a:lnSpc>
                <a:spcPct val="105000"/>
              </a:lnSpc>
              <a:spcAft>
                <a:spcPts val="1800"/>
              </a:spcAft>
            </a:pPr>
            <a:r>
              <a:rPr sz="1900" b="1">
                <a:solidFill>
                  <a:srgbClr val="B8860B"/>
                </a:solidFill>
                <a:latin typeface="Calibri"/>
              </a:rPr>
              <a:t>•  </a:t>
            </a:r>
            <a:r>
              <a:rPr sz="1900">
                <a:solidFill>
                  <a:srgbClr val="1A1D24"/>
                </a:solidFill>
                <a:latin typeface="Calibri"/>
              </a:rPr>
              <a:t>AI discourse did not drift from hope to fear; it was wary from the start.</a:t>
            </a:r>
          </a:p>
          <a:p>
            <a:pPr>
              <a:lnSpc>
                <a:spcPct val="105000"/>
              </a:lnSpc>
              <a:spcAft>
                <a:spcPts val="1800"/>
              </a:spcAft>
            </a:pPr>
            <a:r>
              <a:rPr sz="1900" b="1">
                <a:solidFill>
                  <a:srgbClr val="B8860B"/>
                </a:solidFill>
                <a:latin typeface="Calibri"/>
              </a:rPr>
              <a:t>•  </a:t>
            </a:r>
            <a:r>
              <a:rPr sz="1900">
                <a:solidFill>
                  <a:srgbClr val="1A1D24"/>
                </a:solidFill>
                <a:latin typeface="Calibri"/>
              </a:rPr>
              <a:t>What changed was SCALE — attention exploded after AlphaGo (2016) and ChatGPT (2022–23).</a:t>
            </a:r>
          </a:p>
          <a:p>
            <a:pPr>
              <a:lnSpc>
                <a:spcPct val="105000"/>
              </a:lnSpc>
              <a:spcAft>
                <a:spcPts val="1800"/>
              </a:spcAft>
            </a:pPr>
            <a:r>
              <a:rPr sz="1900" b="1">
                <a:solidFill>
                  <a:srgbClr val="B8860B"/>
                </a:solidFill>
                <a:latin typeface="Calibri"/>
              </a:rPr>
              <a:t>•  </a:t>
            </a:r>
            <a:r>
              <a:rPr sz="1900">
                <a:solidFill>
                  <a:srgbClr val="1A1D24"/>
                </a:solidFill>
                <a:latin typeface="Calibri"/>
              </a:rPr>
              <a:t>And POLITICAL SALIENCE — AI shifted from a scientific keyword (Deep Blue, research) to a geopolitical one (US–China, existential risk, regulation).</a:t>
            </a:r>
          </a:p>
          <a:p>
            <a:pPr>
              <a:lnSpc>
                <a:spcPct val="105000"/>
              </a:lnSpc>
              <a:spcAft>
                <a:spcPts val="1800"/>
              </a:spcAft>
            </a:pPr>
            <a:r>
              <a:rPr sz="1900" b="1">
                <a:solidFill>
                  <a:srgbClr val="B8860B"/>
                </a:solidFill>
                <a:latin typeface="Calibri"/>
              </a:rPr>
              <a:t>•  </a:t>
            </a:r>
            <a:r>
              <a:rPr sz="1900">
                <a:solidFill>
                  <a:srgbClr val="B8860B"/>
                </a:solidFill>
                <a:latin typeface="Calibri"/>
              </a:rPr>
              <a:t>The anxiety isn’t new; its scale and its politics are — the same template as 1950s–60s nuclear fear.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ROBUSTNESS CHECK</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2800" b="1" i="0">
                <a:solidFill>
                  <a:srgbClr val="1A1D24"/>
                </a:solidFill>
                <a:latin typeface="Calibri"/>
              </a:rPr>
              <a:t>Does a second source agree?</a:t>
            </a:r>
          </a:p>
        </p:txBody>
      </p:sp>
      <p:sp>
        <p:nvSpPr>
          <p:cNvPr id="5" name="TextBox 4"/>
          <p:cNvSpPr txBox="1"/>
          <p:nvPr/>
        </p:nvSpPr>
        <p:spPr>
          <a:xfrm>
            <a:off x="868680" y="1572768"/>
            <a:ext cx="10607040" cy="914400"/>
          </a:xfrm>
          <a:prstGeom prst="rect">
            <a:avLst/>
          </a:prstGeom>
          <a:noFill/>
        </p:spPr>
        <p:txBody>
          <a:bodyPr wrap="square">
            <a:spAutoFit/>
          </a:bodyPr>
          <a:lstStyle/>
          <a:p>
            <a:pPr>
              <a:lnSpc>
                <a:spcPct val="105000"/>
              </a:lnSpc>
              <a:spcAft>
                <a:spcPts val="800"/>
              </a:spcAft>
            </a:pPr>
            <a:r>
              <a:rPr sz="1600" b="1">
                <a:solidFill>
                  <a:srgbClr val="B8860B"/>
                </a:solidFill>
                <a:latin typeface="Calibri"/>
              </a:rPr>
              <a:t>•  </a:t>
            </a:r>
            <a:r>
              <a:rPr sz="1600">
                <a:solidFill>
                  <a:srgbClr val="1A1D24"/>
                </a:solidFill>
                <a:latin typeface="Calibri"/>
              </a:rPr>
              <a:t>GDELT (normalized) and Media Cloud track each other across 2017–2023</a:t>
            </a:r>
          </a:p>
          <a:p>
            <a:pPr>
              <a:lnSpc>
                <a:spcPct val="105000"/>
              </a:lnSpc>
              <a:spcAft>
                <a:spcPts val="800"/>
              </a:spcAft>
            </a:pPr>
            <a:r>
              <a:rPr sz="1600" b="1">
                <a:solidFill>
                  <a:srgbClr val="B8860B"/>
                </a:solidFill>
                <a:latin typeface="Calibri"/>
              </a:rPr>
              <a:t>•  </a:t>
            </a:r>
            <a:r>
              <a:rPr sz="1600">
                <a:solidFill>
                  <a:srgbClr val="1A1D24"/>
                </a:solidFill>
                <a:latin typeface="Calibri"/>
              </a:rPr>
              <a:t>In 2023 they land at nearly the same value — ~1.04% vs ~1.05% — so the surge is real, not a single-source artifact</a:t>
            </a:r>
          </a:p>
        </p:txBody>
      </p:sp>
      <p:pic>
        <p:nvPicPr>
          <p:cNvPr id="6" name="Picture 5" descr="panel4_robustness.png"/>
          <p:cNvPicPr>
            <a:picLocks noChangeAspect="1"/>
          </p:cNvPicPr>
          <p:nvPr/>
        </p:nvPicPr>
        <p:blipFill>
          <a:blip r:embed="rId2"/>
          <a:stretch>
            <a:fillRect/>
          </a:stretch>
        </p:blipFill>
        <p:spPr>
          <a:xfrm>
            <a:off x="2042969" y="2606040"/>
            <a:ext cx="8105756" cy="397763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A METHODOLOGICAL CHOICE</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3000" b="1" i="0">
                <a:solidFill>
                  <a:srgbClr val="1A1D24"/>
                </a:solidFill>
                <a:latin typeface="Calibri"/>
              </a:rPr>
              <a:t>Why we did NOT trust GDELT’s raw counts</a:t>
            </a:r>
          </a:p>
        </p:txBody>
      </p:sp>
      <p:sp>
        <p:nvSpPr>
          <p:cNvPr id="5" name="TextBox 4"/>
          <p:cNvSpPr txBox="1"/>
          <p:nvPr/>
        </p:nvSpPr>
        <p:spPr>
          <a:xfrm>
            <a:off x="1051560" y="1828800"/>
            <a:ext cx="10332720" cy="3931920"/>
          </a:xfrm>
          <a:prstGeom prst="rect">
            <a:avLst/>
          </a:prstGeom>
          <a:noFill/>
        </p:spPr>
        <p:txBody>
          <a:bodyPr wrap="square">
            <a:spAutoFit/>
          </a:bodyPr>
          <a:lstStyle/>
          <a:p>
            <a:pPr>
              <a:lnSpc>
                <a:spcPct val="105000"/>
              </a:lnSpc>
              <a:spcAft>
                <a:spcPts val="1600"/>
              </a:spcAft>
            </a:pPr>
            <a:r>
              <a:rPr sz="1900" b="1">
                <a:solidFill>
                  <a:srgbClr val="B8860B"/>
                </a:solidFill>
                <a:latin typeface="Calibri"/>
              </a:rPr>
              <a:t>•  </a:t>
            </a:r>
            <a:r>
              <a:rPr sz="1900">
                <a:solidFill>
                  <a:srgbClr val="1A1D24"/>
                </a:solidFill>
                <a:latin typeface="Calibri"/>
              </a:rPr>
              <a:t>GDELT’s AI event count jumps 347 (2013) → 52,830 (2014) → 3.9 MILLION (2015) — a ~10,000× leap in two years.</a:t>
            </a:r>
          </a:p>
          <a:p>
            <a:pPr>
              <a:lnSpc>
                <a:spcPct val="105000"/>
              </a:lnSpc>
              <a:spcAft>
                <a:spcPts val="1600"/>
              </a:spcAft>
            </a:pPr>
            <a:r>
              <a:rPr sz="1900" b="1">
                <a:solidFill>
                  <a:srgbClr val="B8860B"/>
                </a:solidFill>
                <a:latin typeface="Calibri"/>
              </a:rPr>
              <a:t>•  </a:t>
            </a:r>
            <a:r>
              <a:rPr sz="1900">
                <a:solidFill>
                  <a:srgbClr val="E74C3C"/>
                </a:solidFill>
                <a:latin typeface="Calibri"/>
              </a:rPr>
              <a:t>That is not AI exploding; it is GDELT 2.0 expanding its own sources in 2015. The instrument changed, not the world.</a:t>
            </a:r>
          </a:p>
          <a:p>
            <a:pPr>
              <a:lnSpc>
                <a:spcPct val="105000"/>
              </a:lnSpc>
              <a:spcAft>
                <a:spcPts val="1600"/>
              </a:spcAft>
            </a:pPr>
            <a:r>
              <a:rPr sz="1900" b="1">
                <a:solidFill>
                  <a:srgbClr val="B8860B"/>
                </a:solidFill>
                <a:latin typeface="Calibri"/>
              </a:rPr>
              <a:t>•  </a:t>
            </a:r>
            <a:r>
              <a:rPr sz="1900">
                <a:solidFill>
                  <a:srgbClr val="1A1D24"/>
                </a:solidFill>
                <a:latin typeface="Calibri"/>
              </a:rPr>
              <a:t>Fix: use only its time-comparable metrics — normalized share and average tone — and flag the small early samples.</a:t>
            </a:r>
          </a:p>
          <a:p>
            <a:pPr>
              <a:lnSpc>
                <a:spcPct val="105000"/>
              </a:lnSpc>
              <a:spcAft>
                <a:spcPts val="1600"/>
              </a:spcAft>
            </a:pPr>
            <a:r>
              <a:rPr sz="1900" b="1">
                <a:solidFill>
                  <a:srgbClr val="B8860B"/>
                </a:solidFill>
                <a:latin typeface="Calibri"/>
              </a:rPr>
              <a:t>•  </a:t>
            </a:r>
            <a:r>
              <a:rPr sz="1900">
                <a:solidFill>
                  <a:srgbClr val="5B6470"/>
                </a:solidFill>
                <a:latin typeface="Calibri"/>
              </a:rPr>
              <a:t>Source criticism is the scholarship: a measurement is only as good as the instrument’s consistency over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CONCLUSION</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3000" b="1" i="0">
                <a:solidFill>
                  <a:srgbClr val="1A1D24"/>
                </a:solidFill>
                <a:latin typeface="Calibri"/>
              </a:rPr>
              <a:t>AI discourse as a primary source</a:t>
            </a:r>
          </a:p>
        </p:txBody>
      </p:sp>
      <p:sp>
        <p:nvSpPr>
          <p:cNvPr id="5" name="TextBox 4"/>
          <p:cNvSpPr txBox="1"/>
          <p:nvPr/>
        </p:nvSpPr>
        <p:spPr>
          <a:xfrm>
            <a:off x="1051560" y="1828800"/>
            <a:ext cx="10332720" cy="3931920"/>
          </a:xfrm>
          <a:prstGeom prst="rect">
            <a:avLst/>
          </a:prstGeom>
          <a:noFill/>
        </p:spPr>
        <p:txBody>
          <a:bodyPr wrap="square">
            <a:spAutoFit/>
          </a:bodyPr>
          <a:lstStyle/>
          <a:p>
            <a:pPr>
              <a:lnSpc>
                <a:spcPct val="105000"/>
              </a:lnSpc>
              <a:spcAft>
                <a:spcPts val="1800"/>
              </a:spcAft>
            </a:pPr>
            <a:r>
              <a:rPr sz="2000" b="1">
                <a:solidFill>
                  <a:srgbClr val="B8860B"/>
                </a:solidFill>
                <a:latin typeface="Calibri"/>
              </a:rPr>
              <a:t>•  </a:t>
            </a:r>
            <a:r>
              <a:rPr sz="2000">
                <a:solidFill>
                  <a:srgbClr val="1A1D24"/>
                </a:solidFill>
                <a:latin typeface="Calibri"/>
              </a:rPr>
              <a:t>Books — slow, deliberate — recorded a quiet rebranding: AI → machine learning → AI.</a:t>
            </a:r>
          </a:p>
          <a:p>
            <a:pPr>
              <a:lnSpc>
                <a:spcPct val="105000"/>
              </a:lnSpc>
              <a:spcAft>
                <a:spcPts val="1800"/>
              </a:spcAft>
            </a:pPr>
            <a:r>
              <a:rPr sz="2000" b="1">
                <a:solidFill>
                  <a:srgbClr val="B8860B"/>
                </a:solidFill>
                <a:latin typeface="Calibri"/>
              </a:rPr>
              <a:t>•  </a:t>
            </a:r>
            <a:r>
              <a:rPr sz="2000">
                <a:solidFill>
                  <a:srgbClr val="1A1D24"/>
                </a:solidFill>
                <a:latin typeface="Calibri"/>
              </a:rPr>
              <a:t>News — fast, reactive — recorded an explosion in scale and political salience after ChatGPT.</a:t>
            </a:r>
          </a:p>
          <a:p>
            <a:pPr>
              <a:lnSpc>
                <a:spcPct val="105000"/>
              </a:lnSpc>
              <a:spcAft>
                <a:spcPts val="1800"/>
              </a:spcAft>
            </a:pPr>
            <a:r>
              <a:rPr sz="2000" b="1">
                <a:solidFill>
                  <a:srgbClr val="B8860B"/>
                </a:solidFill>
                <a:latin typeface="Calibri"/>
              </a:rPr>
              <a:t>•  </a:t>
            </a:r>
            <a:r>
              <a:rPr sz="2000">
                <a:solidFill>
                  <a:srgbClr val="1A1D24"/>
                </a:solidFill>
                <a:latin typeface="Calibri"/>
              </a:rPr>
              <a:t>The shift was scale and politics, not optimism to fear — extending Crawford’s argument with quantitative evidence.</a:t>
            </a:r>
          </a:p>
        </p:txBody>
      </p:sp>
      <p:sp>
        <p:nvSpPr>
          <p:cNvPr id="6" name="TextBox 5"/>
          <p:cNvSpPr txBox="1"/>
          <p:nvPr/>
        </p:nvSpPr>
        <p:spPr>
          <a:xfrm>
            <a:off x="1051560" y="5532120"/>
            <a:ext cx="10058400" cy="731520"/>
          </a:xfrm>
          <a:prstGeom prst="rect">
            <a:avLst/>
          </a:prstGeom>
          <a:noFill/>
        </p:spPr>
        <p:txBody>
          <a:bodyPr wrap="square" anchor="t">
            <a:spAutoFit/>
          </a:bodyPr>
          <a:lstStyle/>
          <a:p>
            <a:pPr algn="l">
              <a:lnSpc>
                <a:spcPct val="100000"/>
              </a:lnSpc>
            </a:pPr>
            <a:r>
              <a:rPr sz="1800" b="0" i="1">
                <a:solidFill>
                  <a:srgbClr val="B8860B"/>
                </a:solidFill>
                <a:latin typeface="Calibri"/>
              </a:rPr>
              <a:t>Treating AI coverage as a primary source shows how societies negotiate power, fear, and technological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32720" cy="914400"/>
          </a:xfrm>
          <a:prstGeom prst="rect">
            <a:avLst/>
          </a:prstGeom>
          <a:noFill/>
        </p:spPr>
        <p:txBody>
          <a:bodyPr wrap="square" anchor="t">
            <a:spAutoFit/>
          </a:bodyPr>
          <a:lstStyle/>
          <a:p>
            <a:pPr algn="ctr">
              <a:lnSpc>
                <a:spcPct val="100000"/>
              </a:lnSpc>
            </a:pPr>
            <a:r>
              <a:rPr sz="4400" b="1" i="0">
                <a:solidFill>
                  <a:srgbClr val="1A1D24"/>
                </a:solidFill>
                <a:latin typeface="Calibri"/>
              </a:rPr>
              <a:t>Thank you</a:t>
            </a:r>
          </a:p>
        </p:txBody>
      </p:sp>
      <p:sp>
        <p:nvSpPr>
          <p:cNvPr id="5" name="TextBox 4"/>
          <p:cNvSpPr txBox="1"/>
          <p:nvPr/>
        </p:nvSpPr>
        <p:spPr>
          <a:xfrm>
            <a:off x="914400" y="3474720"/>
            <a:ext cx="10332720" cy="457200"/>
          </a:xfrm>
          <a:prstGeom prst="rect">
            <a:avLst/>
          </a:prstGeom>
          <a:noFill/>
        </p:spPr>
        <p:txBody>
          <a:bodyPr wrap="square" anchor="t">
            <a:spAutoFit/>
          </a:bodyPr>
          <a:lstStyle/>
          <a:p>
            <a:pPr algn="ctr">
              <a:lnSpc>
                <a:spcPct val="100000"/>
              </a:lnSpc>
            </a:pPr>
            <a:r>
              <a:rPr sz="2000" b="0" i="0">
                <a:solidFill>
                  <a:srgbClr val="5B6470"/>
                </a:solidFill>
                <a:latin typeface="Calibri"/>
              </a:rPr>
              <a:t>Explore the interactive exhibit</a:t>
            </a:r>
          </a:p>
        </p:txBody>
      </p:sp>
      <p:sp>
        <p:nvSpPr>
          <p:cNvPr id="6" name="TextBox 5"/>
          <p:cNvSpPr txBox="1"/>
          <p:nvPr/>
        </p:nvSpPr>
        <p:spPr>
          <a:xfrm>
            <a:off x="914400" y="3931920"/>
            <a:ext cx="10332720" cy="457200"/>
          </a:xfrm>
          <a:prstGeom prst="rect">
            <a:avLst/>
          </a:prstGeom>
          <a:noFill/>
        </p:spPr>
        <p:txBody>
          <a:bodyPr wrap="square" anchor="t">
            <a:spAutoFit/>
          </a:bodyPr>
          <a:lstStyle/>
          <a:p>
            <a:pPr algn="ctr">
              <a:lnSpc>
                <a:spcPct val="100000"/>
              </a:lnSpc>
            </a:pPr>
            <a:r>
              <a:rPr sz="2000" b="1" i="0">
                <a:solidFill>
                  <a:srgbClr val="2E75B6"/>
                </a:solidFill>
                <a:latin typeface="Calibri"/>
              </a:rPr>
              <a:t>potchara1411.github.io/Digital-history-project</a:t>
            </a:r>
          </a:p>
        </p:txBody>
      </p:sp>
      <p:sp>
        <p:nvSpPr>
          <p:cNvPr id="7" name="TextBox 6"/>
          <p:cNvSpPr txBox="1"/>
          <p:nvPr/>
        </p:nvSpPr>
        <p:spPr>
          <a:xfrm>
            <a:off x="914400" y="4526280"/>
            <a:ext cx="10332720" cy="365760"/>
          </a:xfrm>
          <a:prstGeom prst="rect">
            <a:avLst/>
          </a:prstGeom>
          <a:noFill/>
        </p:spPr>
        <p:txBody>
          <a:bodyPr wrap="square" anchor="t">
            <a:spAutoFit/>
          </a:bodyPr>
          <a:lstStyle/>
          <a:p>
            <a:pPr algn="ctr">
              <a:lnSpc>
                <a:spcPct val="100000"/>
              </a:lnSpc>
            </a:pPr>
            <a:r>
              <a:rPr sz="1500" b="0" i="0">
                <a:solidFill>
                  <a:srgbClr val="5B6470"/>
                </a:solidFill>
                <a:latin typeface="Calibri"/>
              </a:rPr>
              <a:t>Code &amp; data: github.com/Potchara1411/Digital-history-project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