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My project is about AI — but not the technology. It is about how people TALK about AI. I looked at 30 years of books and news. My question is simple: when did AI become a big topic? And were people ever happy about it? [~20s]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famous scholar, Kate Crawford, says AI is really about power and control. But she uses ideas, not data. She does not show WHEN people's view of AI changed. So I use data: 30 years of books, and 13 years of news from around the world. I use old AI news as evidence about history. [~45s]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first finding is a surprise. In the 1990s, the word 'artificial intelligence' went DOWN in books. People lost interest. Then a new word, 'machine learning,' became more popular. By 2013, it passed 'artificial intelligence.' So the field changed its name. [~40s]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second finding: after 2016 and 2022 — after AlphaGo and ChatGPT — AI news exploded. In 2023, about 1 percent of ALL news in the world was about AI. Of course, there is more news today in general. But even so, AI grew much, much faster. People really paid more attention to AI. [~40s]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surprising part. Many people think: first we were happy about AI, then we became afraid. But look. The news about AI was negative EVERY year — even in 2010. People were never really happy about AI. So the FEELING did not change. Two things changed. One: AI became a much BIGGER topic. Two: AI became a POLITICAL topic — about countries competing, like the US and China, and about danger and control. [~50s]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this real, or just a mistake in my data? To check, I used a different news database. The two databases show almost the same result. So I am sure: the big rise in 2023 is real. [~35s]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can see everything on my website. Please look at it. And please share your questions and opinions — I really want to hear them. Thank you. [~25s]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01168"/>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56832"/>
            <a:ext cx="12191695" cy="201168"/>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10332720" cy="365760"/>
          </a:xfrm>
          <a:prstGeom prst="rect">
            <a:avLst/>
          </a:prstGeom>
          <a:noFill/>
        </p:spPr>
        <p:txBody>
          <a:bodyPr wrap="square" anchor="t">
            <a:spAutoFit/>
          </a:bodyPr>
          <a:lstStyle/>
          <a:p>
            <a:pPr algn="ctr">
              <a:lnSpc>
                <a:spcPct val="100000"/>
              </a:lnSpc>
            </a:pPr>
            <a:r>
              <a:rPr sz="1500" b="1" i="0">
                <a:solidFill>
                  <a:srgbClr val="B8860B"/>
                </a:solidFill>
                <a:latin typeface="Calibri"/>
              </a:rPr>
              <a:t>KAIST · DIGITAL HISTORY  ·  PROJECT IN PROGRESS</a:t>
            </a:r>
          </a:p>
        </p:txBody>
      </p:sp>
      <p:sp>
        <p:nvSpPr>
          <p:cNvPr id="5" name="TextBox 4"/>
          <p:cNvSpPr txBox="1"/>
          <p:nvPr/>
        </p:nvSpPr>
        <p:spPr>
          <a:xfrm>
            <a:off x="914400" y="2240280"/>
            <a:ext cx="10332720" cy="1828800"/>
          </a:xfrm>
          <a:prstGeom prst="rect">
            <a:avLst/>
          </a:prstGeom>
          <a:noFill/>
        </p:spPr>
        <p:txBody>
          <a:bodyPr wrap="square" anchor="t">
            <a:spAutoFit/>
          </a:bodyPr>
          <a:lstStyle/>
          <a:p>
            <a:pPr algn="ctr">
              <a:lnSpc>
                <a:spcPct val="100000"/>
              </a:lnSpc>
            </a:pPr>
            <a:r>
              <a:rPr sz="4400" b="1" i="0">
                <a:solidFill>
                  <a:srgbClr val="1A1D24"/>
                </a:solidFill>
                <a:latin typeface="Calibri"/>
              </a:rPr>
              <a:t>How the World Talks About AI</a:t>
            </a:r>
          </a:p>
          <a:p>
            <a:pPr algn="ctr">
              <a:lnSpc>
                <a:spcPct val="100000"/>
              </a:lnSpc>
            </a:pPr>
            <a:r>
              <a:rPr sz="4400" b="1" i="0">
                <a:solidFill>
                  <a:srgbClr val="1A1D24"/>
                </a:solidFill>
                <a:latin typeface="Calibri"/>
              </a:rPr>
              <a:t>1990 – 2023</a:t>
            </a:r>
          </a:p>
        </p:txBody>
      </p:sp>
      <p:sp>
        <p:nvSpPr>
          <p:cNvPr id="6" name="TextBox 5"/>
          <p:cNvSpPr txBox="1"/>
          <p:nvPr/>
        </p:nvSpPr>
        <p:spPr>
          <a:xfrm>
            <a:off x="914400" y="4114800"/>
            <a:ext cx="10332720" cy="548640"/>
          </a:xfrm>
          <a:prstGeom prst="rect">
            <a:avLst/>
          </a:prstGeom>
          <a:noFill/>
        </p:spPr>
        <p:txBody>
          <a:bodyPr wrap="square" anchor="t">
            <a:spAutoFit/>
          </a:bodyPr>
          <a:lstStyle/>
          <a:p>
            <a:pPr algn="ctr">
              <a:lnSpc>
                <a:spcPct val="100000"/>
              </a:lnSpc>
            </a:pPr>
            <a:r>
              <a:rPr sz="2100" b="0" i="0">
                <a:solidFill>
                  <a:srgbClr val="5B6470"/>
                </a:solidFill>
                <a:latin typeface="Calibri"/>
              </a:rPr>
              <a:t>A history of AI in books and news</a:t>
            </a:r>
          </a:p>
        </p:txBody>
      </p:sp>
      <p:sp>
        <p:nvSpPr>
          <p:cNvPr id="7" name="TextBox 6"/>
          <p:cNvSpPr txBox="1"/>
          <p:nvPr/>
        </p:nvSpPr>
        <p:spPr>
          <a:xfrm>
            <a:off x="914400" y="4983480"/>
            <a:ext cx="10332720" cy="365760"/>
          </a:xfrm>
          <a:prstGeom prst="rect">
            <a:avLst/>
          </a:prstGeom>
          <a:noFill/>
        </p:spPr>
        <p:txBody>
          <a:bodyPr wrap="square" anchor="t">
            <a:spAutoFit/>
          </a:bodyPr>
          <a:lstStyle/>
          <a:p>
            <a:pPr algn="ctr">
              <a:lnSpc>
                <a:spcPct val="100000"/>
              </a:lnSpc>
            </a:pPr>
            <a:r>
              <a:rPr sz="1500" b="0" i="0">
                <a:solidFill>
                  <a:srgbClr val="2E75B6"/>
                </a:solidFill>
                <a:latin typeface="Calibri"/>
              </a:rPr>
              <a:t>potchara1411.github.io/Digital-history-project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502920"/>
            <a:ext cx="146304" cy="566928"/>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457200"/>
            <a:ext cx="10607040" cy="365760"/>
          </a:xfrm>
          <a:prstGeom prst="rect">
            <a:avLst/>
          </a:prstGeom>
          <a:noFill/>
        </p:spPr>
        <p:txBody>
          <a:bodyPr wrap="square" anchor="t">
            <a:spAutoFit/>
          </a:bodyPr>
          <a:lstStyle/>
          <a:p>
            <a:pPr algn="l">
              <a:lnSpc>
                <a:spcPct val="100000"/>
              </a:lnSpc>
            </a:pPr>
            <a:r>
              <a:rPr sz="1400" b="1" i="0">
                <a:solidFill>
                  <a:srgbClr val="B8860B"/>
                </a:solidFill>
                <a:latin typeface="Calibri"/>
              </a:rPr>
              <a:t>MY IDEA</a:t>
            </a:r>
          </a:p>
        </p:txBody>
      </p:sp>
      <p:sp>
        <p:nvSpPr>
          <p:cNvPr id="4" name="TextBox 3"/>
          <p:cNvSpPr txBox="1"/>
          <p:nvPr/>
        </p:nvSpPr>
        <p:spPr>
          <a:xfrm>
            <a:off x="868680" y="749808"/>
            <a:ext cx="10881360" cy="731520"/>
          </a:xfrm>
          <a:prstGeom prst="rect">
            <a:avLst/>
          </a:prstGeom>
          <a:noFill/>
        </p:spPr>
        <p:txBody>
          <a:bodyPr wrap="square" anchor="t">
            <a:spAutoFit/>
          </a:bodyPr>
          <a:lstStyle/>
          <a:p>
            <a:pPr algn="l">
              <a:lnSpc>
                <a:spcPct val="100000"/>
              </a:lnSpc>
            </a:pPr>
            <a:r>
              <a:rPr sz="3000" b="1" i="0">
                <a:solidFill>
                  <a:srgbClr val="1A1D24"/>
                </a:solidFill>
                <a:latin typeface="Calibri"/>
              </a:rPr>
              <a:t>Adding data to a famous book</a:t>
            </a:r>
          </a:p>
        </p:txBody>
      </p:sp>
      <p:sp>
        <p:nvSpPr>
          <p:cNvPr id="5" name="TextBox 4"/>
          <p:cNvSpPr txBox="1"/>
          <p:nvPr/>
        </p:nvSpPr>
        <p:spPr>
          <a:xfrm>
            <a:off x="1051560" y="1874519"/>
            <a:ext cx="10332720" cy="3657600"/>
          </a:xfrm>
          <a:prstGeom prst="rect">
            <a:avLst/>
          </a:prstGeom>
          <a:noFill/>
        </p:spPr>
        <p:txBody>
          <a:bodyPr wrap="square">
            <a:spAutoFit/>
          </a:bodyPr>
          <a:lstStyle/>
          <a:p>
            <a:pPr>
              <a:lnSpc>
                <a:spcPct val="105000"/>
              </a:lnSpc>
              <a:spcAft>
                <a:spcPts val="2200"/>
              </a:spcAft>
            </a:pPr>
            <a:r>
              <a:rPr sz="2200" b="1">
                <a:solidFill>
                  <a:srgbClr val="B8860B"/>
                </a:solidFill>
                <a:latin typeface="Calibri"/>
              </a:rPr>
              <a:t>•  </a:t>
            </a:r>
            <a:r>
              <a:rPr sz="2200">
                <a:solidFill>
                  <a:srgbClr val="1A1D24"/>
                </a:solidFill>
                <a:latin typeface="Calibri"/>
              </a:rPr>
              <a:t>A famous scholar, Kate Crawford, says AI is really about power — but she uses ideas, not data</a:t>
            </a:r>
          </a:p>
          <a:p>
            <a:pPr>
              <a:lnSpc>
                <a:spcPct val="105000"/>
              </a:lnSpc>
              <a:spcAft>
                <a:spcPts val="2200"/>
              </a:spcAft>
            </a:pPr>
            <a:r>
              <a:rPr sz="2200" b="1">
                <a:solidFill>
                  <a:srgbClr val="B8860B"/>
                </a:solidFill>
                <a:latin typeface="Calibri"/>
              </a:rPr>
              <a:t>•  </a:t>
            </a:r>
            <a:r>
              <a:rPr sz="2200">
                <a:solidFill>
                  <a:srgbClr val="1A1D24"/>
                </a:solidFill>
                <a:latin typeface="Calibri"/>
              </a:rPr>
              <a:t>I use data: 30 years of books + 13 years of news from around the world</a:t>
            </a:r>
          </a:p>
          <a:p>
            <a:pPr>
              <a:lnSpc>
                <a:spcPct val="105000"/>
              </a:lnSpc>
              <a:spcAft>
                <a:spcPts val="2200"/>
              </a:spcAft>
            </a:pPr>
            <a:r>
              <a:rPr sz="2200" b="1">
                <a:solidFill>
                  <a:srgbClr val="B8860B"/>
                </a:solidFill>
                <a:latin typeface="Calibri"/>
              </a:rPr>
              <a:t>•  </a:t>
            </a:r>
            <a:r>
              <a:rPr sz="2200">
                <a:solidFill>
                  <a:srgbClr val="1A1D24"/>
                </a:solidFill>
                <a:latin typeface="Calibri"/>
              </a:rPr>
              <a:t>My question: WHEN did people’s view of AI change? I use old AI news as evidence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502920"/>
            <a:ext cx="146304" cy="566928"/>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457200"/>
            <a:ext cx="10607040" cy="365760"/>
          </a:xfrm>
          <a:prstGeom prst="rect">
            <a:avLst/>
          </a:prstGeom>
          <a:noFill/>
        </p:spPr>
        <p:txBody>
          <a:bodyPr wrap="square" anchor="t">
            <a:spAutoFit/>
          </a:bodyPr>
          <a:lstStyle/>
          <a:p>
            <a:pPr algn="l">
              <a:lnSpc>
                <a:spcPct val="100000"/>
              </a:lnSpc>
            </a:pPr>
            <a:r>
              <a:rPr sz="1400" b="1" i="0">
                <a:solidFill>
                  <a:srgbClr val="B8860B"/>
                </a:solidFill>
                <a:latin typeface="Calibri"/>
              </a:rPr>
              <a:t>FINDING 1</a:t>
            </a:r>
          </a:p>
        </p:txBody>
      </p:sp>
      <p:sp>
        <p:nvSpPr>
          <p:cNvPr id="4" name="TextBox 3"/>
          <p:cNvSpPr txBox="1"/>
          <p:nvPr/>
        </p:nvSpPr>
        <p:spPr>
          <a:xfrm>
            <a:off x="868680" y="749808"/>
            <a:ext cx="10881360" cy="731520"/>
          </a:xfrm>
          <a:prstGeom prst="rect">
            <a:avLst/>
          </a:prstGeom>
          <a:noFill/>
        </p:spPr>
        <p:txBody>
          <a:bodyPr wrap="square" anchor="t">
            <a:spAutoFit/>
          </a:bodyPr>
          <a:lstStyle/>
          <a:p>
            <a:pPr algn="l">
              <a:lnSpc>
                <a:spcPct val="100000"/>
              </a:lnSpc>
            </a:pPr>
            <a:r>
              <a:rPr sz="3000" b="1" i="0">
                <a:solidFill>
                  <a:srgbClr val="1A1D24"/>
                </a:solidFill>
                <a:latin typeface="Calibri"/>
              </a:rPr>
              <a:t>First AI went down — then it changed its name</a:t>
            </a:r>
          </a:p>
        </p:txBody>
      </p:sp>
      <p:sp>
        <p:nvSpPr>
          <p:cNvPr id="5" name="TextBox 4"/>
          <p:cNvSpPr txBox="1"/>
          <p:nvPr/>
        </p:nvSpPr>
        <p:spPr>
          <a:xfrm>
            <a:off x="868680" y="1572768"/>
            <a:ext cx="10607040" cy="914400"/>
          </a:xfrm>
          <a:prstGeom prst="rect">
            <a:avLst/>
          </a:prstGeom>
          <a:noFill/>
        </p:spPr>
        <p:txBody>
          <a:bodyPr wrap="square">
            <a:spAutoFit/>
          </a:bodyPr>
          <a:lstStyle/>
          <a:p>
            <a:pPr>
              <a:lnSpc>
                <a:spcPct val="105000"/>
              </a:lnSpc>
              <a:spcAft>
                <a:spcPts val="1200"/>
              </a:spcAft>
            </a:pPr>
            <a:r>
              <a:rPr sz="1600" b="1">
                <a:solidFill>
                  <a:srgbClr val="B8860B"/>
                </a:solidFill>
                <a:latin typeface="Calibri"/>
              </a:rPr>
              <a:t>•  </a:t>
            </a:r>
            <a:r>
              <a:rPr sz="1600">
                <a:solidFill>
                  <a:srgbClr val="2E75B6"/>
                </a:solidFill>
                <a:latin typeface="Calibri"/>
              </a:rPr>
              <a:t>In the 1990s, the word “artificial intelligence” went DOWN in books — people lost interest</a:t>
            </a:r>
          </a:p>
          <a:p>
            <a:pPr>
              <a:lnSpc>
                <a:spcPct val="105000"/>
              </a:lnSpc>
              <a:spcAft>
                <a:spcPts val="1200"/>
              </a:spcAft>
            </a:pPr>
            <a:r>
              <a:rPr sz="1600" b="1">
                <a:solidFill>
                  <a:srgbClr val="B8860B"/>
                </a:solidFill>
                <a:latin typeface="Calibri"/>
              </a:rPr>
              <a:t>•  </a:t>
            </a:r>
            <a:r>
              <a:rPr sz="1600">
                <a:solidFill>
                  <a:srgbClr val="E74C3C"/>
                </a:solidFill>
                <a:latin typeface="Calibri"/>
              </a:rPr>
              <a:t>A new word, “machine learning,” became more popular and passed it by 2013</a:t>
            </a:r>
          </a:p>
        </p:txBody>
      </p:sp>
      <p:pic>
        <p:nvPicPr>
          <p:cNvPr id="6" name="Picture 5" descr="panel1_ngram.png"/>
          <p:cNvPicPr>
            <a:picLocks noChangeAspect="1"/>
          </p:cNvPicPr>
          <p:nvPr/>
        </p:nvPicPr>
        <p:blipFill>
          <a:blip r:embed="rId2"/>
          <a:stretch>
            <a:fillRect/>
          </a:stretch>
        </p:blipFill>
        <p:spPr>
          <a:xfrm>
            <a:off x="1991207" y="2651760"/>
            <a:ext cx="8209280" cy="402336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502920"/>
            <a:ext cx="146304" cy="566928"/>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457200"/>
            <a:ext cx="10607040" cy="365760"/>
          </a:xfrm>
          <a:prstGeom prst="rect">
            <a:avLst/>
          </a:prstGeom>
          <a:noFill/>
        </p:spPr>
        <p:txBody>
          <a:bodyPr wrap="square" anchor="t">
            <a:spAutoFit/>
          </a:bodyPr>
          <a:lstStyle/>
          <a:p>
            <a:pPr algn="l">
              <a:lnSpc>
                <a:spcPct val="100000"/>
              </a:lnSpc>
            </a:pPr>
            <a:r>
              <a:rPr sz="1400" b="1" i="0">
                <a:solidFill>
                  <a:srgbClr val="B8860B"/>
                </a:solidFill>
                <a:latin typeface="Calibri"/>
              </a:rPr>
              <a:t>FINDING 2</a:t>
            </a:r>
          </a:p>
        </p:txBody>
      </p:sp>
      <p:sp>
        <p:nvSpPr>
          <p:cNvPr id="4" name="TextBox 3"/>
          <p:cNvSpPr txBox="1"/>
          <p:nvPr/>
        </p:nvSpPr>
        <p:spPr>
          <a:xfrm>
            <a:off x="868680" y="749808"/>
            <a:ext cx="10881360" cy="731520"/>
          </a:xfrm>
          <a:prstGeom prst="rect">
            <a:avLst/>
          </a:prstGeom>
          <a:noFill/>
        </p:spPr>
        <p:txBody>
          <a:bodyPr wrap="square" anchor="t">
            <a:spAutoFit/>
          </a:bodyPr>
          <a:lstStyle/>
          <a:p>
            <a:pPr algn="l">
              <a:lnSpc>
                <a:spcPct val="100000"/>
              </a:lnSpc>
            </a:pPr>
            <a:r>
              <a:rPr sz="3000" b="1" i="0">
                <a:solidFill>
                  <a:srgbClr val="1A1D24"/>
                </a:solidFill>
                <a:latin typeface="Calibri"/>
              </a:rPr>
              <a:t>Then AI news exploded</a:t>
            </a:r>
          </a:p>
        </p:txBody>
      </p:sp>
      <p:sp>
        <p:nvSpPr>
          <p:cNvPr id="5" name="TextBox 4"/>
          <p:cNvSpPr txBox="1"/>
          <p:nvPr/>
        </p:nvSpPr>
        <p:spPr>
          <a:xfrm>
            <a:off x="868680" y="1572768"/>
            <a:ext cx="10607040" cy="914400"/>
          </a:xfrm>
          <a:prstGeom prst="rect">
            <a:avLst/>
          </a:prstGeom>
          <a:noFill/>
        </p:spPr>
        <p:txBody>
          <a:bodyPr wrap="square">
            <a:spAutoFit/>
          </a:bodyPr>
          <a:lstStyle/>
          <a:p>
            <a:pPr>
              <a:lnSpc>
                <a:spcPct val="105000"/>
              </a:lnSpc>
              <a:spcAft>
                <a:spcPts val="1200"/>
              </a:spcAft>
            </a:pPr>
            <a:r>
              <a:rPr sz="1600" b="1">
                <a:solidFill>
                  <a:srgbClr val="B8860B"/>
                </a:solidFill>
                <a:latin typeface="Calibri"/>
              </a:rPr>
              <a:t>•  </a:t>
            </a:r>
            <a:r>
              <a:rPr sz="1600">
                <a:solidFill>
                  <a:srgbClr val="7E4FA8"/>
                </a:solidFill>
                <a:latin typeface="Calibri"/>
              </a:rPr>
              <a:t>After AlphaGo (2016) and ChatGPT (2022), AI news grew very fast — about 1% of ALL news by 2023</a:t>
            </a:r>
          </a:p>
          <a:p>
            <a:pPr>
              <a:lnSpc>
                <a:spcPct val="105000"/>
              </a:lnSpc>
              <a:spcAft>
                <a:spcPts val="1200"/>
              </a:spcAft>
            </a:pPr>
            <a:r>
              <a:rPr sz="1600" b="1">
                <a:solidFill>
                  <a:srgbClr val="B8860B"/>
                </a:solidFill>
                <a:latin typeface="Calibri"/>
              </a:rPr>
              <a:t>•  </a:t>
            </a:r>
            <a:r>
              <a:rPr sz="1600">
                <a:solidFill>
                  <a:srgbClr val="1A1D24"/>
                </a:solidFill>
                <a:latin typeface="Calibri"/>
              </a:rPr>
              <a:t>There is more news today in general. But even so, AI grew much, much faster</a:t>
            </a:r>
          </a:p>
        </p:txBody>
      </p:sp>
      <p:pic>
        <p:nvPicPr>
          <p:cNvPr id="6" name="Picture 5" descr="panel3_share.png"/>
          <p:cNvPicPr>
            <a:picLocks noChangeAspect="1"/>
          </p:cNvPicPr>
          <p:nvPr/>
        </p:nvPicPr>
        <p:blipFill>
          <a:blip r:embed="rId2"/>
          <a:stretch>
            <a:fillRect/>
          </a:stretch>
        </p:blipFill>
        <p:spPr>
          <a:xfrm>
            <a:off x="1996384" y="2651760"/>
            <a:ext cx="8198927" cy="402336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502920"/>
            <a:ext cx="146304" cy="566928"/>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457200"/>
            <a:ext cx="10607040" cy="365760"/>
          </a:xfrm>
          <a:prstGeom prst="rect">
            <a:avLst/>
          </a:prstGeom>
          <a:noFill/>
        </p:spPr>
        <p:txBody>
          <a:bodyPr wrap="square" anchor="t">
            <a:spAutoFit/>
          </a:bodyPr>
          <a:lstStyle/>
          <a:p>
            <a:pPr algn="l">
              <a:lnSpc>
                <a:spcPct val="100000"/>
              </a:lnSpc>
            </a:pPr>
            <a:r>
              <a:rPr sz="1400" b="1" i="0">
                <a:solidFill>
                  <a:srgbClr val="B8860B"/>
                </a:solidFill>
                <a:latin typeface="Calibri"/>
              </a:rPr>
              <a:t>FINDING 3 · THE SURPRISE</a:t>
            </a:r>
          </a:p>
        </p:txBody>
      </p:sp>
      <p:sp>
        <p:nvSpPr>
          <p:cNvPr id="4" name="TextBox 3"/>
          <p:cNvSpPr txBox="1"/>
          <p:nvPr/>
        </p:nvSpPr>
        <p:spPr>
          <a:xfrm>
            <a:off x="868680" y="749808"/>
            <a:ext cx="10881360" cy="731520"/>
          </a:xfrm>
          <a:prstGeom prst="rect">
            <a:avLst/>
          </a:prstGeom>
          <a:noFill/>
        </p:spPr>
        <p:txBody>
          <a:bodyPr wrap="square" anchor="t">
            <a:spAutoFit/>
          </a:bodyPr>
          <a:lstStyle/>
          <a:p>
            <a:pPr algn="l">
              <a:lnSpc>
                <a:spcPct val="100000"/>
              </a:lnSpc>
            </a:pPr>
            <a:r>
              <a:rPr sz="3000" b="1" i="0">
                <a:solidFill>
                  <a:srgbClr val="1A1D24"/>
                </a:solidFill>
                <a:latin typeface="Calibri"/>
              </a:rPr>
              <a:t>People were never happy about AI</a:t>
            </a:r>
          </a:p>
        </p:txBody>
      </p:sp>
      <p:sp>
        <p:nvSpPr>
          <p:cNvPr id="5" name="TextBox 4"/>
          <p:cNvSpPr txBox="1"/>
          <p:nvPr/>
        </p:nvSpPr>
        <p:spPr>
          <a:xfrm>
            <a:off x="868680" y="1572768"/>
            <a:ext cx="10607040" cy="914400"/>
          </a:xfrm>
          <a:prstGeom prst="rect">
            <a:avLst/>
          </a:prstGeom>
          <a:noFill/>
        </p:spPr>
        <p:txBody>
          <a:bodyPr wrap="square">
            <a:spAutoFit/>
          </a:bodyPr>
          <a:lstStyle/>
          <a:p>
            <a:pPr>
              <a:lnSpc>
                <a:spcPct val="105000"/>
              </a:lnSpc>
              <a:spcAft>
                <a:spcPts val="1200"/>
              </a:spcAft>
            </a:pPr>
            <a:r>
              <a:rPr sz="1600" b="1">
                <a:solidFill>
                  <a:srgbClr val="B8860B"/>
                </a:solidFill>
                <a:latin typeface="Calibri"/>
              </a:rPr>
              <a:t>•  </a:t>
            </a:r>
            <a:r>
              <a:rPr sz="1600">
                <a:solidFill>
                  <a:srgbClr val="E74C3C"/>
                </a:solidFill>
                <a:latin typeface="Calibri"/>
              </a:rPr>
              <a:t>The news about AI was negative EVERY year — even in 2010. People were never very hopeful</a:t>
            </a:r>
          </a:p>
          <a:p>
            <a:pPr>
              <a:lnSpc>
                <a:spcPct val="105000"/>
              </a:lnSpc>
              <a:spcAft>
                <a:spcPts val="1200"/>
              </a:spcAft>
            </a:pPr>
            <a:r>
              <a:rPr sz="1600" b="1">
                <a:solidFill>
                  <a:srgbClr val="B8860B"/>
                </a:solidFill>
                <a:latin typeface="Calibri"/>
              </a:rPr>
              <a:t>•  </a:t>
            </a:r>
            <a:r>
              <a:rPr sz="1600">
                <a:solidFill>
                  <a:srgbClr val="1A1D24"/>
                </a:solidFill>
                <a:latin typeface="Calibri"/>
              </a:rPr>
              <a:t>The feeling did not change. What changed: AI became (1) a much BIGGER topic, and (2) a POLITICAL one — countries competing, danger, control</a:t>
            </a:r>
          </a:p>
        </p:txBody>
      </p:sp>
      <p:pic>
        <p:nvPicPr>
          <p:cNvPr id="6" name="Picture 5" descr="panel5_tone.png"/>
          <p:cNvPicPr>
            <a:picLocks noChangeAspect="1"/>
          </p:cNvPicPr>
          <p:nvPr/>
        </p:nvPicPr>
        <p:blipFill>
          <a:blip r:embed="rId2"/>
          <a:stretch>
            <a:fillRect/>
          </a:stretch>
        </p:blipFill>
        <p:spPr>
          <a:xfrm>
            <a:off x="1996384" y="2651760"/>
            <a:ext cx="8198927" cy="402336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502920"/>
            <a:ext cx="146304" cy="566928"/>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457200"/>
            <a:ext cx="10607040" cy="365760"/>
          </a:xfrm>
          <a:prstGeom prst="rect">
            <a:avLst/>
          </a:prstGeom>
          <a:noFill/>
        </p:spPr>
        <p:txBody>
          <a:bodyPr wrap="square" anchor="t">
            <a:spAutoFit/>
          </a:bodyPr>
          <a:lstStyle/>
          <a:p>
            <a:pPr algn="l">
              <a:lnSpc>
                <a:spcPct val="100000"/>
              </a:lnSpc>
            </a:pPr>
            <a:r>
              <a:rPr sz="1400" b="1" i="0">
                <a:solidFill>
                  <a:srgbClr val="B8860B"/>
                </a:solidFill>
                <a:latin typeface="Calibri"/>
              </a:rPr>
              <a:t>IS IT REAL?</a:t>
            </a:r>
          </a:p>
        </p:txBody>
      </p:sp>
      <p:sp>
        <p:nvSpPr>
          <p:cNvPr id="4" name="TextBox 3"/>
          <p:cNvSpPr txBox="1"/>
          <p:nvPr/>
        </p:nvSpPr>
        <p:spPr>
          <a:xfrm>
            <a:off x="868680" y="749808"/>
            <a:ext cx="10881360" cy="731520"/>
          </a:xfrm>
          <a:prstGeom prst="rect">
            <a:avLst/>
          </a:prstGeom>
          <a:noFill/>
        </p:spPr>
        <p:txBody>
          <a:bodyPr wrap="square" anchor="t">
            <a:spAutoFit/>
          </a:bodyPr>
          <a:lstStyle/>
          <a:p>
            <a:pPr algn="l">
              <a:lnSpc>
                <a:spcPct val="100000"/>
              </a:lnSpc>
            </a:pPr>
            <a:r>
              <a:rPr sz="3000" b="1" i="0">
                <a:solidFill>
                  <a:srgbClr val="1A1D24"/>
                </a:solidFill>
                <a:latin typeface="Calibri"/>
              </a:rPr>
              <a:t>I checked with another source</a:t>
            </a:r>
          </a:p>
        </p:txBody>
      </p:sp>
      <p:sp>
        <p:nvSpPr>
          <p:cNvPr id="5" name="TextBox 4"/>
          <p:cNvSpPr txBox="1"/>
          <p:nvPr/>
        </p:nvSpPr>
        <p:spPr>
          <a:xfrm>
            <a:off x="868680" y="1572768"/>
            <a:ext cx="10607040" cy="914400"/>
          </a:xfrm>
          <a:prstGeom prst="rect">
            <a:avLst/>
          </a:prstGeom>
          <a:noFill/>
        </p:spPr>
        <p:txBody>
          <a:bodyPr wrap="square">
            <a:spAutoFit/>
          </a:bodyPr>
          <a:lstStyle/>
          <a:p>
            <a:pPr>
              <a:lnSpc>
                <a:spcPct val="105000"/>
              </a:lnSpc>
              <a:spcAft>
                <a:spcPts val="1200"/>
              </a:spcAft>
            </a:pPr>
            <a:r>
              <a:rPr sz="1600" b="1">
                <a:solidFill>
                  <a:srgbClr val="B8860B"/>
                </a:solidFill>
                <a:latin typeface="Calibri"/>
              </a:rPr>
              <a:t>•  </a:t>
            </a:r>
            <a:r>
              <a:rPr sz="1600">
                <a:solidFill>
                  <a:srgbClr val="1A1D24"/>
                </a:solidFill>
                <a:latin typeface="Calibri"/>
              </a:rPr>
              <a:t>Is the 2023 rise real, or just a mistake in my data? I compared it with a different news database</a:t>
            </a:r>
          </a:p>
          <a:p>
            <a:pPr>
              <a:lnSpc>
                <a:spcPct val="105000"/>
              </a:lnSpc>
              <a:spcAft>
                <a:spcPts val="1200"/>
              </a:spcAft>
            </a:pPr>
            <a:r>
              <a:rPr sz="1600" b="1">
                <a:solidFill>
                  <a:srgbClr val="B8860B"/>
                </a:solidFill>
                <a:latin typeface="Calibri"/>
              </a:rPr>
              <a:t>•  </a:t>
            </a:r>
            <a:r>
              <a:rPr sz="1600">
                <a:solidFill>
                  <a:srgbClr val="7E4FA8"/>
                </a:solidFill>
                <a:latin typeface="Calibri"/>
              </a:rPr>
              <a:t>Both show almost the same result — so the rise is real</a:t>
            </a:r>
          </a:p>
        </p:txBody>
      </p:sp>
      <p:pic>
        <p:nvPicPr>
          <p:cNvPr id="6" name="Picture 5" descr="panel4_robustness.png"/>
          <p:cNvPicPr>
            <a:picLocks noChangeAspect="1"/>
          </p:cNvPicPr>
          <p:nvPr/>
        </p:nvPicPr>
        <p:blipFill>
          <a:blip r:embed="rId2"/>
          <a:stretch>
            <a:fillRect/>
          </a:stretch>
        </p:blipFill>
        <p:spPr>
          <a:xfrm>
            <a:off x="1996384" y="2651760"/>
            <a:ext cx="8198927" cy="402336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01168"/>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56832"/>
            <a:ext cx="12191695" cy="201168"/>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10332720" cy="914400"/>
          </a:xfrm>
          <a:prstGeom prst="rect">
            <a:avLst/>
          </a:prstGeom>
          <a:noFill/>
        </p:spPr>
        <p:txBody>
          <a:bodyPr wrap="square" anchor="t">
            <a:spAutoFit/>
          </a:bodyPr>
          <a:lstStyle/>
          <a:p>
            <a:pPr algn="ctr">
              <a:lnSpc>
                <a:spcPct val="100000"/>
              </a:lnSpc>
            </a:pPr>
            <a:r>
              <a:rPr sz="3000" b="1" i="0">
                <a:solidFill>
                  <a:srgbClr val="1A1D24"/>
                </a:solidFill>
                <a:latin typeface="Calibri"/>
              </a:rPr>
              <a:t>See my website — and please share your questions</a:t>
            </a:r>
          </a:p>
        </p:txBody>
      </p:sp>
      <p:sp>
        <p:nvSpPr>
          <p:cNvPr id="5" name="TextBox 4"/>
          <p:cNvSpPr txBox="1"/>
          <p:nvPr/>
        </p:nvSpPr>
        <p:spPr>
          <a:xfrm>
            <a:off x="914400" y="3200400"/>
            <a:ext cx="10332720" cy="457200"/>
          </a:xfrm>
          <a:prstGeom prst="rect">
            <a:avLst/>
          </a:prstGeom>
          <a:noFill/>
        </p:spPr>
        <p:txBody>
          <a:bodyPr wrap="square" anchor="t">
            <a:spAutoFit/>
          </a:bodyPr>
          <a:lstStyle/>
          <a:p>
            <a:pPr algn="ctr">
              <a:lnSpc>
                <a:spcPct val="100000"/>
              </a:lnSpc>
            </a:pPr>
            <a:r>
              <a:rPr sz="1800" b="0" i="0">
                <a:solidFill>
                  <a:srgbClr val="5B6470"/>
                </a:solidFill>
                <a:latin typeface="Calibri"/>
              </a:rPr>
              <a:t>More charts and the full story are there</a:t>
            </a:r>
          </a:p>
        </p:txBody>
      </p:sp>
      <p:sp>
        <p:nvSpPr>
          <p:cNvPr id="6" name="TextBox 5"/>
          <p:cNvSpPr txBox="1"/>
          <p:nvPr/>
        </p:nvSpPr>
        <p:spPr>
          <a:xfrm>
            <a:off x="914400" y="3840480"/>
            <a:ext cx="10332720" cy="457200"/>
          </a:xfrm>
          <a:prstGeom prst="rect">
            <a:avLst/>
          </a:prstGeom>
          <a:noFill/>
        </p:spPr>
        <p:txBody>
          <a:bodyPr wrap="square" anchor="t">
            <a:spAutoFit/>
          </a:bodyPr>
          <a:lstStyle/>
          <a:p>
            <a:pPr algn="ctr">
              <a:lnSpc>
                <a:spcPct val="100000"/>
              </a:lnSpc>
            </a:pPr>
            <a:r>
              <a:rPr sz="2200" b="1" i="0">
                <a:solidFill>
                  <a:srgbClr val="2E75B6"/>
                </a:solidFill>
                <a:latin typeface="Calibri"/>
              </a:rPr>
              <a:t>potchara1411.github.io/Digital-history-project</a:t>
            </a:r>
          </a:p>
        </p:txBody>
      </p:sp>
      <p:sp>
        <p:nvSpPr>
          <p:cNvPr id="7" name="TextBox 6"/>
          <p:cNvSpPr txBox="1"/>
          <p:nvPr/>
        </p:nvSpPr>
        <p:spPr>
          <a:xfrm>
            <a:off x="914400" y="4526280"/>
            <a:ext cx="10332720" cy="365760"/>
          </a:xfrm>
          <a:prstGeom prst="rect">
            <a:avLst/>
          </a:prstGeom>
          <a:noFill/>
        </p:spPr>
        <p:txBody>
          <a:bodyPr wrap="square" anchor="t">
            <a:spAutoFit/>
          </a:bodyPr>
          <a:lstStyle/>
          <a:p>
            <a:pPr algn="ctr">
              <a:lnSpc>
                <a:spcPct val="100000"/>
              </a:lnSpc>
            </a:pPr>
            <a:r>
              <a:rPr sz="1400" b="0" i="0">
                <a:solidFill>
                  <a:srgbClr val="5B6470"/>
                </a:solidFill>
                <a:latin typeface="Calibri"/>
              </a:rPr>
              <a:t>github.com/Potchara1411/Digital-history-project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