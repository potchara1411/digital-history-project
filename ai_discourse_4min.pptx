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 my DH project asks a simple question: when did 'AI' become inescapable, and was it ever the hopeful story we assume? I trace how we've talked about AI for thirty years — in books and in the news. [~20s]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hook is Kate Crawford's Atlas of AI. She argues AI is a system of power — but it's a qualitative argument; she never shows computationally WHEN the discourse shifted or how fast. That's my gap: 30 years of book data plus 13 years of global news data. And I flip the usual question — not what AI can do for historians, but what historians can do with AI discourse as a primary source. [~45s]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one, and it's a surprise: AI didn't just grow. It DECLINED in the 1990s — the AI Winter — and 'machine learning' overtook it by 2013, as the field quietly rebranded around concrete method. [~40s]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two: then the explosion. After AlphaGo and ChatGPT, AI's SHARE of all news more than doubled — to about 1% in 2023. And I control for the total growth of news, so this is a real shift in attention, not just more articles being published. [~40s]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 three — the twist I'm proudest of. The conventional story is optimism turning to fear. But the tone of AI coverage was negative every single year, even back in 2010. There was no golden age of optimism to lose. So the real shift wasn't sentiment — it was SCALE and POLITICAL SALIENCE: AI went from a scientific keyword to a geopolitical one, tied to US-China competition and existential risk. [~50s]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methodological point I'm proud of. I almost used GDELT as my main news source — but its AI counts jump from 347, to 53,000, to 3.9 MILLION in two years. That's not AI exploding; it's the database expanding its own sources in 2015. The instrument changed, not the world. Catching that — source criticism — is the real scholarship. [~35s]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all a live web exhibit — with a robustness check against a second dataset and full source criticism. Please go explore it, and tell me where the argument is weak — I'd genuinely love your pushback. Thank you. [~25s]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10332720" cy="365760"/>
          </a:xfrm>
          <a:prstGeom prst="rect">
            <a:avLst/>
          </a:prstGeom>
          <a:noFill/>
        </p:spPr>
        <p:txBody>
          <a:bodyPr wrap="square" anchor="t">
            <a:spAutoFit/>
          </a:bodyPr>
          <a:lstStyle/>
          <a:p>
            <a:pPr algn="ctr">
              <a:lnSpc>
                <a:spcPct val="100000"/>
              </a:lnSpc>
            </a:pPr>
            <a:r>
              <a:rPr sz="1500" b="1" i="0">
                <a:solidFill>
                  <a:srgbClr val="B8860B"/>
                </a:solidFill>
                <a:latin typeface="Calibri"/>
              </a:rPr>
              <a:t>KAIST · DIGITAL HISTORY  ·  PROJECT IN PROGRESS</a:t>
            </a:r>
          </a:p>
        </p:txBody>
      </p:sp>
      <p:sp>
        <p:nvSpPr>
          <p:cNvPr id="5" name="TextBox 4"/>
          <p:cNvSpPr txBox="1"/>
          <p:nvPr/>
        </p:nvSpPr>
        <p:spPr>
          <a:xfrm>
            <a:off x="914400" y="2240280"/>
            <a:ext cx="10332720" cy="1828800"/>
          </a:xfrm>
          <a:prstGeom prst="rect">
            <a:avLst/>
          </a:prstGeom>
          <a:noFill/>
        </p:spPr>
        <p:txBody>
          <a:bodyPr wrap="square" anchor="t">
            <a:spAutoFit/>
          </a:bodyPr>
          <a:lstStyle/>
          <a:p>
            <a:pPr algn="ctr">
              <a:lnSpc>
                <a:spcPct val="100000"/>
              </a:lnSpc>
            </a:pPr>
            <a:r>
              <a:rPr sz="4400" b="1" i="0">
                <a:solidFill>
                  <a:srgbClr val="1A1D24"/>
                </a:solidFill>
                <a:latin typeface="Calibri"/>
              </a:rPr>
              <a:t>From Scientific Optimism</a:t>
            </a:r>
          </a:p>
          <a:p>
            <a:pPr algn="ctr">
              <a:lnSpc>
                <a:spcPct val="100000"/>
              </a:lnSpc>
            </a:pPr>
            <a:r>
              <a:rPr sz="4400" b="1" i="0">
                <a:solidFill>
                  <a:srgbClr val="1A1D24"/>
                </a:solidFill>
                <a:latin typeface="Calibri"/>
              </a:rPr>
              <a:t>to Geopolitical Anxiety</a:t>
            </a:r>
          </a:p>
        </p:txBody>
      </p:sp>
      <p:sp>
        <p:nvSpPr>
          <p:cNvPr id="6" name="TextBox 5"/>
          <p:cNvSpPr txBox="1"/>
          <p:nvPr/>
        </p:nvSpPr>
        <p:spPr>
          <a:xfrm>
            <a:off x="914400" y="4114800"/>
            <a:ext cx="10332720" cy="548640"/>
          </a:xfrm>
          <a:prstGeom prst="rect">
            <a:avLst/>
          </a:prstGeom>
          <a:noFill/>
        </p:spPr>
        <p:txBody>
          <a:bodyPr wrap="square" anchor="t">
            <a:spAutoFit/>
          </a:bodyPr>
          <a:lstStyle/>
          <a:p>
            <a:pPr algn="ctr">
              <a:lnSpc>
                <a:spcPct val="100000"/>
              </a:lnSpc>
            </a:pPr>
            <a:r>
              <a:rPr sz="2100" b="0" i="0">
                <a:solidFill>
                  <a:srgbClr val="5B6470"/>
                </a:solidFill>
                <a:latin typeface="Calibri"/>
              </a:rPr>
              <a:t>A Computational History of AI Discourse  ·  1990–2023</a:t>
            </a:r>
          </a:p>
        </p:txBody>
      </p:sp>
      <p:sp>
        <p:nvSpPr>
          <p:cNvPr id="7" name="TextBox 6"/>
          <p:cNvSpPr txBox="1"/>
          <p:nvPr/>
        </p:nvSpPr>
        <p:spPr>
          <a:xfrm>
            <a:off x="914400" y="4983480"/>
            <a:ext cx="10332720" cy="365760"/>
          </a:xfrm>
          <a:prstGeom prst="rect">
            <a:avLst/>
          </a:prstGeom>
          <a:noFill/>
        </p:spPr>
        <p:txBody>
          <a:bodyPr wrap="square" anchor="t">
            <a:spAutoFit/>
          </a:bodyPr>
          <a:lstStyle/>
          <a:p>
            <a:pPr algn="ctr">
              <a:lnSpc>
                <a:spcPct val="100000"/>
              </a:lnSpc>
            </a:pPr>
            <a:r>
              <a:rPr sz="1500" b="0" i="0">
                <a:solidFill>
                  <a:srgbClr val="2E75B6"/>
                </a:solidFill>
                <a:latin typeface="Calibri"/>
              </a:rPr>
              <a:t>potchara1411.github.io/Digital-history-project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WHAT'S NEW</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Filling a gap in Crawford's Atlas of AI</a:t>
            </a:r>
          </a:p>
        </p:txBody>
      </p:sp>
      <p:sp>
        <p:nvSpPr>
          <p:cNvPr id="5" name="TextBox 4"/>
          <p:cNvSpPr txBox="1"/>
          <p:nvPr/>
        </p:nvSpPr>
        <p:spPr>
          <a:xfrm>
            <a:off x="1051560" y="1874519"/>
            <a:ext cx="10332720" cy="3657600"/>
          </a:xfrm>
          <a:prstGeom prst="rect">
            <a:avLst/>
          </a:prstGeom>
          <a:noFill/>
        </p:spPr>
        <p:txBody>
          <a:bodyPr wrap="square">
            <a:spAutoFit/>
          </a:bodyPr>
          <a:lstStyle/>
          <a:p>
            <a:pPr>
              <a:lnSpc>
                <a:spcPct val="105000"/>
              </a:lnSpc>
              <a:spcAft>
                <a:spcPts val="2000"/>
              </a:spcAft>
            </a:pPr>
            <a:r>
              <a:rPr sz="2100" b="1">
                <a:solidFill>
                  <a:srgbClr val="B8860B"/>
                </a:solidFill>
                <a:latin typeface="Calibri"/>
              </a:rPr>
              <a:t>•  </a:t>
            </a:r>
            <a:r>
              <a:rPr sz="2100">
                <a:solidFill>
                  <a:srgbClr val="1A1D24"/>
                </a:solidFill>
                <a:latin typeface="Calibri"/>
              </a:rPr>
              <a:t>Kate Crawford argues AI is a system of power — but qualitatively. She never shows WHEN public discourse shifted, or how fast.</a:t>
            </a:r>
          </a:p>
          <a:p>
            <a:pPr>
              <a:lnSpc>
                <a:spcPct val="105000"/>
              </a:lnSpc>
              <a:spcAft>
                <a:spcPts val="2000"/>
              </a:spcAft>
            </a:pPr>
            <a:r>
              <a:rPr sz="2100" b="1">
                <a:solidFill>
                  <a:srgbClr val="B8860B"/>
                </a:solidFill>
                <a:latin typeface="Calibri"/>
              </a:rPr>
              <a:t>•  </a:t>
            </a:r>
            <a:r>
              <a:rPr sz="2100">
                <a:solidFill>
                  <a:srgbClr val="1A1D24"/>
                </a:solidFill>
                <a:latin typeface="Calibri"/>
              </a:rPr>
              <a:t>I add the quantitative timeline: 30 years of books (Ngram) + 13 years of global news (Media Cloud, GDELT).</a:t>
            </a:r>
          </a:p>
          <a:p>
            <a:pPr>
              <a:lnSpc>
                <a:spcPct val="105000"/>
              </a:lnSpc>
              <a:spcAft>
                <a:spcPts val="2000"/>
              </a:spcAft>
            </a:pPr>
            <a:r>
              <a:rPr sz="2100" b="1">
                <a:solidFill>
                  <a:srgbClr val="B8860B"/>
                </a:solidFill>
                <a:latin typeface="Calibri"/>
              </a:rPr>
              <a:t>•  </a:t>
            </a:r>
            <a:r>
              <a:rPr sz="2100">
                <a:solidFill>
                  <a:srgbClr val="1A1D24"/>
                </a:solidFill>
                <a:latin typeface="Calibri"/>
              </a:rPr>
              <a:t>And I flip the question — not “what can AI do for historians?” but “what can historians do with AI discourse as a primary source?”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FINDING 1</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AI didn't just grow — it declined, then rebranded</a:t>
            </a:r>
          </a:p>
        </p:txBody>
      </p:sp>
      <p:sp>
        <p:nvSpPr>
          <p:cNvPr id="5" name="TextBox 4"/>
          <p:cNvSpPr txBox="1"/>
          <p:nvPr/>
        </p:nvSpPr>
        <p:spPr>
          <a:xfrm>
            <a:off x="868680" y="1572768"/>
            <a:ext cx="10607040" cy="914400"/>
          </a:xfrm>
          <a:prstGeom prst="rect">
            <a:avLst/>
          </a:prstGeom>
          <a:noFill/>
        </p:spPr>
        <p:txBody>
          <a:bodyPr wrap="square">
            <a:spAutoFit/>
          </a:bodyPr>
          <a:lstStyle/>
          <a:p>
            <a:pPr>
              <a:lnSpc>
                <a:spcPct val="105000"/>
              </a:lnSpc>
              <a:spcAft>
                <a:spcPts val="1200"/>
              </a:spcAft>
            </a:pPr>
            <a:r>
              <a:rPr sz="1600" b="1">
                <a:solidFill>
                  <a:srgbClr val="B8860B"/>
                </a:solidFill>
                <a:latin typeface="Calibri"/>
              </a:rPr>
              <a:t>•  </a:t>
            </a:r>
            <a:r>
              <a:rPr sz="1600">
                <a:solidFill>
                  <a:srgbClr val="2E75B6"/>
                </a:solidFill>
                <a:latin typeface="Calibri"/>
              </a:rPr>
              <a:t>“Artificial intelligence” DECLINED in the 1990s — the AI Winter</a:t>
            </a:r>
          </a:p>
          <a:p>
            <a:pPr>
              <a:lnSpc>
                <a:spcPct val="105000"/>
              </a:lnSpc>
              <a:spcAft>
                <a:spcPts val="1200"/>
              </a:spcAft>
            </a:pPr>
            <a:r>
              <a:rPr sz="1600" b="1">
                <a:solidFill>
                  <a:srgbClr val="B8860B"/>
                </a:solidFill>
                <a:latin typeface="Calibri"/>
              </a:rPr>
              <a:t>•  </a:t>
            </a:r>
            <a:r>
              <a:rPr sz="1600">
                <a:solidFill>
                  <a:srgbClr val="E74C3C"/>
                </a:solidFill>
                <a:latin typeface="Calibri"/>
              </a:rPr>
              <a:t>“Machine learning” rose and overtook it by 2013 — the field quietly rebranded around concrete method</a:t>
            </a:r>
          </a:p>
        </p:txBody>
      </p:sp>
      <p:pic>
        <p:nvPicPr>
          <p:cNvPr id="6" name="Picture 5" descr="panel1_ngram.png"/>
          <p:cNvPicPr>
            <a:picLocks noChangeAspect="1"/>
          </p:cNvPicPr>
          <p:nvPr/>
        </p:nvPicPr>
        <p:blipFill>
          <a:blip r:embed="rId2"/>
          <a:stretch>
            <a:fillRect/>
          </a:stretch>
        </p:blipFill>
        <p:spPr>
          <a:xfrm>
            <a:off x="1991207" y="2651760"/>
            <a:ext cx="8209280" cy="4023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FINDING 2</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Then the explosion — and it's real</a:t>
            </a:r>
          </a:p>
        </p:txBody>
      </p:sp>
      <p:sp>
        <p:nvSpPr>
          <p:cNvPr id="5" name="TextBox 4"/>
          <p:cNvSpPr txBox="1"/>
          <p:nvPr/>
        </p:nvSpPr>
        <p:spPr>
          <a:xfrm>
            <a:off x="868680" y="1572768"/>
            <a:ext cx="10607040" cy="914400"/>
          </a:xfrm>
          <a:prstGeom prst="rect">
            <a:avLst/>
          </a:prstGeom>
          <a:noFill/>
        </p:spPr>
        <p:txBody>
          <a:bodyPr wrap="square">
            <a:spAutoFit/>
          </a:bodyPr>
          <a:lstStyle/>
          <a:p>
            <a:pPr>
              <a:lnSpc>
                <a:spcPct val="105000"/>
              </a:lnSpc>
              <a:spcAft>
                <a:spcPts val="1200"/>
              </a:spcAft>
            </a:pPr>
            <a:r>
              <a:rPr sz="1600" b="1">
                <a:solidFill>
                  <a:srgbClr val="B8860B"/>
                </a:solidFill>
                <a:latin typeface="Calibri"/>
              </a:rPr>
              <a:t>•  </a:t>
            </a:r>
            <a:r>
              <a:rPr sz="1600">
                <a:solidFill>
                  <a:srgbClr val="7E4FA8"/>
                </a:solidFill>
                <a:latin typeface="Calibri"/>
              </a:rPr>
              <a:t>After AlphaGo (2016) and ChatGPT (2022), AI’s SHARE of all news more than doubled — to ~1% in 2023</a:t>
            </a:r>
          </a:p>
          <a:p>
            <a:pPr>
              <a:lnSpc>
                <a:spcPct val="105000"/>
              </a:lnSpc>
              <a:spcAft>
                <a:spcPts val="1200"/>
              </a:spcAft>
            </a:pPr>
            <a:r>
              <a:rPr sz="1600" b="1">
                <a:solidFill>
                  <a:srgbClr val="B8860B"/>
                </a:solidFill>
                <a:latin typeface="Calibri"/>
              </a:rPr>
              <a:t>•  </a:t>
            </a:r>
            <a:r>
              <a:rPr sz="1600">
                <a:solidFill>
                  <a:srgbClr val="1A1D24"/>
                </a:solidFill>
                <a:latin typeface="Calibri"/>
              </a:rPr>
              <a:t>I control for total news growth, so this is a genuine shift in attention, not just “more news”</a:t>
            </a:r>
          </a:p>
        </p:txBody>
      </p:sp>
      <p:pic>
        <p:nvPicPr>
          <p:cNvPr id="6" name="Picture 5" descr="panel3_share.png"/>
          <p:cNvPicPr>
            <a:picLocks noChangeAspect="1"/>
          </p:cNvPicPr>
          <p:nvPr/>
        </p:nvPicPr>
        <p:blipFill>
          <a:blip r:embed="rId2"/>
          <a:stretch>
            <a:fillRect/>
          </a:stretch>
        </p:blipFill>
        <p:spPr>
          <a:xfrm>
            <a:off x="1996384" y="2651760"/>
            <a:ext cx="8198927" cy="40233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FINDING 3 · THE TWIST</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It was never optimism</a:t>
            </a:r>
          </a:p>
        </p:txBody>
      </p:sp>
      <p:sp>
        <p:nvSpPr>
          <p:cNvPr id="5" name="TextBox 4"/>
          <p:cNvSpPr txBox="1"/>
          <p:nvPr/>
        </p:nvSpPr>
        <p:spPr>
          <a:xfrm>
            <a:off x="868680" y="1572768"/>
            <a:ext cx="10607040" cy="914400"/>
          </a:xfrm>
          <a:prstGeom prst="rect">
            <a:avLst/>
          </a:prstGeom>
          <a:noFill/>
        </p:spPr>
        <p:txBody>
          <a:bodyPr wrap="square">
            <a:spAutoFit/>
          </a:bodyPr>
          <a:lstStyle/>
          <a:p>
            <a:pPr>
              <a:lnSpc>
                <a:spcPct val="105000"/>
              </a:lnSpc>
              <a:spcAft>
                <a:spcPts val="1200"/>
              </a:spcAft>
            </a:pPr>
            <a:r>
              <a:rPr sz="1600" b="1">
                <a:solidFill>
                  <a:srgbClr val="B8860B"/>
                </a:solidFill>
                <a:latin typeface="Calibri"/>
              </a:rPr>
              <a:t>•  </a:t>
            </a:r>
            <a:r>
              <a:rPr sz="1600">
                <a:solidFill>
                  <a:srgbClr val="E74C3C"/>
                </a:solidFill>
                <a:latin typeface="Calibri"/>
              </a:rPr>
              <a:t>Tone of AI coverage was NEGATIVE every single year — even in 2010. No optimism to lose.</a:t>
            </a:r>
          </a:p>
          <a:p>
            <a:pPr>
              <a:lnSpc>
                <a:spcPct val="105000"/>
              </a:lnSpc>
              <a:spcAft>
                <a:spcPts val="1200"/>
              </a:spcAft>
            </a:pPr>
            <a:r>
              <a:rPr sz="1600" b="1">
                <a:solidFill>
                  <a:srgbClr val="B8860B"/>
                </a:solidFill>
                <a:latin typeface="Calibri"/>
              </a:rPr>
              <a:t>•  </a:t>
            </a:r>
            <a:r>
              <a:rPr sz="1600">
                <a:solidFill>
                  <a:srgbClr val="1A1D24"/>
                </a:solidFill>
                <a:latin typeface="Calibri"/>
              </a:rPr>
              <a:t>So the shift wasn’t hope → fear. It was SCALE + POLITICAL SALIENCE: AI went from a scientific keyword to a geopolitical one.</a:t>
            </a:r>
          </a:p>
        </p:txBody>
      </p:sp>
      <p:pic>
        <p:nvPicPr>
          <p:cNvPr id="6" name="Picture 5" descr="panel5_tone.png"/>
          <p:cNvPicPr>
            <a:picLocks noChangeAspect="1"/>
          </p:cNvPicPr>
          <p:nvPr/>
        </p:nvPicPr>
        <p:blipFill>
          <a:blip r:embed="rId2"/>
          <a:stretch>
            <a:fillRect/>
          </a:stretch>
        </p:blipFill>
        <p:spPr>
          <a:xfrm>
            <a:off x="1996384" y="2651760"/>
            <a:ext cx="8198927" cy="4023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146304" cy="56692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607040" cy="365760"/>
          </a:xfrm>
          <a:prstGeom prst="rect">
            <a:avLst/>
          </a:prstGeom>
          <a:noFill/>
        </p:spPr>
        <p:txBody>
          <a:bodyPr wrap="square" anchor="t">
            <a:spAutoFit/>
          </a:bodyPr>
          <a:lstStyle/>
          <a:p>
            <a:pPr algn="l">
              <a:lnSpc>
                <a:spcPct val="100000"/>
              </a:lnSpc>
            </a:pPr>
            <a:r>
              <a:rPr sz="1400" b="1" i="0">
                <a:solidFill>
                  <a:srgbClr val="B8860B"/>
                </a:solidFill>
                <a:latin typeface="Calibri"/>
              </a:rPr>
              <a:t>WHY IT'S RIGOROUS</a:t>
            </a:r>
          </a:p>
        </p:txBody>
      </p:sp>
      <p:sp>
        <p:nvSpPr>
          <p:cNvPr id="4" name="TextBox 3"/>
          <p:cNvSpPr txBox="1"/>
          <p:nvPr/>
        </p:nvSpPr>
        <p:spPr>
          <a:xfrm>
            <a:off x="868680" y="749808"/>
            <a:ext cx="10881360" cy="731520"/>
          </a:xfrm>
          <a:prstGeom prst="rect">
            <a:avLst/>
          </a:prstGeom>
          <a:noFill/>
        </p:spPr>
        <p:txBody>
          <a:bodyPr wrap="square" anchor="t">
            <a:spAutoFit/>
          </a:bodyPr>
          <a:lstStyle/>
          <a:p>
            <a:pPr algn="l">
              <a:lnSpc>
                <a:spcPct val="100000"/>
              </a:lnSpc>
            </a:pPr>
            <a:r>
              <a:rPr sz="3000" b="1" i="0">
                <a:solidFill>
                  <a:srgbClr val="1A1D24"/>
                </a:solidFill>
                <a:latin typeface="Calibri"/>
              </a:rPr>
              <a:t>I rejected a source — on purpose</a:t>
            </a:r>
          </a:p>
        </p:txBody>
      </p:sp>
      <p:sp>
        <p:nvSpPr>
          <p:cNvPr id="5" name="TextBox 4"/>
          <p:cNvSpPr txBox="1"/>
          <p:nvPr/>
        </p:nvSpPr>
        <p:spPr>
          <a:xfrm>
            <a:off x="1051560" y="1874519"/>
            <a:ext cx="10332720" cy="3657600"/>
          </a:xfrm>
          <a:prstGeom prst="rect">
            <a:avLst/>
          </a:prstGeom>
          <a:noFill/>
        </p:spPr>
        <p:txBody>
          <a:bodyPr wrap="square">
            <a:spAutoFit/>
          </a:bodyPr>
          <a:lstStyle/>
          <a:p>
            <a:pPr>
              <a:lnSpc>
                <a:spcPct val="105000"/>
              </a:lnSpc>
              <a:spcAft>
                <a:spcPts val="2000"/>
              </a:spcAft>
            </a:pPr>
            <a:r>
              <a:rPr sz="2100" b="1">
                <a:solidFill>
                  <a:srgbClr val="B8860B"/>
                </a:solidFill>
                <a:latin typeface="Calibri"/>
              </a:rPr>
              <a:t>•  </a:t>
            </a:r>
            <a:r>
              <a:rPr sz="2100">
                <a:solidFill>
                  <a:srgbClr val="1A1D24"/>
                </a:solidFill>
                <a:latin typeface="Calibri"/>
              </a:rPr>
              <a:t>I almost used GDELT — but its AI counts jump 347 → 53,000 → 3.9 MILLION in just two years</a:t>
            </a:r>
          </a:p>
          <a:p>
            <a:pPr>
              <a:lnSpc>
                <a:spcPct val="105000"/>
              </a:lnSpc>
              <a:spcAft>
                <a:spcPts val="2000"/>
              </a:spcAft>
            </a:pPr>
            <a:r>
              <a:rPr sz="2100" b="1">
                <a:solidFill>
                  <a:srgbClr val="B8860B"/>
                </a:solidFill>
                <a:latin typeface="Calibri"/>
              </a:rPr>
              <a:t>•  </a:t>
            </a:r>
            <a:r>
              <a:rPr sz="2100">
                <a:solidFill>
                  <a:srgbClr val="E74C3C"/>
                </a:solidFill>
                <a:latin typeface="Calibri"/>
              </a:rPr>
              <a:t>That’s the database expanding its sources in 2015 — the instrument changed, not the world</a:t>
            </a:r>
          </a:p>
          <a:p>
            <a:pPr>
              <a:lnSpc>
                <a:spcPct val="105000"/>
              </a:lnSpc>
              <a:spcAft>
                <a:spcPts val="2000"/>
              </a:spcAft>
            </a:pPr>
            <a:r>
              <a:rPr sz="2100" b="1">
                <a:solidFill>
                  <a:srgbClr val="B8860B"/>
                </a:solidFill>
                <a:latin typeface="Calibri"/>
              </a:rPr>
              <a:t>•  </a:t>
            </a:r>
            <a:r>
              <a:rPr sz="2100">
                <a:solidFill>
                  <a:srgbClr val="5B6470"/>
                </a:solidFill>
                <a:latin typeface="Calibri"/>
              </a:rPr>
              <a:t>Catching that — source criticism — is the real scholarship behind the project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011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56832"/>
            <a:ext cx="12191695" cy="201168"/>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332720" cy="914400"/>
          </a:xfrm>
          <a:prstGeom prst="rect">
            <a:avLst/>
          </a:prstGeom>
          <a:noFill/>
        </p:spPr>
        <p:txBody>
          <a:bodyPr wrap="square" anchor="t">
            <a:spAutoFit/>
          </a:bodyPr>
          <a:lstStyle/>
          <a:p>
            <a:pPr algn="ctr">
              <a:lnSpc>
                <a:spcPct val="100000"/>
              </a:lnSpc>
            </a:pPr>
            <a:r>
              <a:rPr sz="3000" b="1" i="0">
                <a:solidFill>
                  <a:srgbClr val="1A1D24"/>
                </a:solidFill>
                <a:latin typeface="Calibri"/>
              </a:rPr>
              <a:t>See the full exhibit — and tell me where it's weak</a:t>
            </a:r>
          </a:p>
        </p:txBody>
      </p:sp>
      <p:sp>
        <p:nvSpPr>
          <p:cNvPr id="5" name="TextBox 4"/>
          <p:cNvSpPr txBox="1"/>
          <p:nvPr/>
        </p:nvSpPr>
        <p:spPr>
          <a:xfrm>
            <a:off x="914400" y="3200400"/>
            <a:ext cx="10332720" cy="457200"/>
          </a:xfrm>
          <a:prstGeom prst="rect">
            <a:avLst/>
          </a:prstGeom>
          <a:noFill/>
        </p:spPr>
        <p:txBody>
          <a:bodyPr wrap="square" anchor="t">
            <a:spAutoFit/>
          </a:bodyPr>
          <a:lstStyle/>
          <a:p>
            <a:pPr algn="ctr">
              <a:lnSpc>
                <a:spcPct val="100000"/>
              </a:lnSpc>
            </a:pPr>
            <a:r>
              <a:rPr sz="1800" b="0" i="0">
                <a:solidFill>
                  <a:srgbClr val="5B6470"/>
                </a:solidFill>
                <a:latin typeface="Calibri"/>
              </a:rPr>
              <a:t>Five interactive charts · a GDELT robustness check · full source criticism</a:t>
            </a:r>
          </a:p>
        </p:txBody>
      </p:sp>
      <p:sp>
        <p:nvSpPr>
          <p:cNvPr id="6" name="TextBox 5"/>
          <p:cNvSpPr txBox="1"/>
          <p:nvPr/>
        </p:nvSpPr>
        <p:spPr>
          <a:xfrm>
            <a:off x="914400" y="3840480"/>
            <a:ext cx="10332720" cy="457200"/>
          </a:xfrm>
          <a:prstGeom prst="rect">
            <a:avLst/>
          </a:prstGeom>
          <a:noFill/>
        </p:spPr>
        <p:txBody>
          <a:bodyPr wrap="square" anchor="t">
            <a:spAutoFit/>
          </a:bodyPr>
          <a:lstStyle/>
          <a:p>
            <a:pPr algn="ctr">
              <a:lnSpc>
                <a:spcPct val="100000"/>
              </a:lnSpc>
            </a:pPr>
            <a:r>
              <a:rPr sz="2200" b="1" i="0">
                <a:solidFill>
                  <a:srgbClr val="2E75B6"/>
                </a:solidFill>
                <a:latin typeface="Calibri"/>
              </a:rPr>
              <a:t>potchara1411.github.io/Digital-history-project</a:t>
            </a:r>
          </a:p>
        </p:txBody>
      </p:sp>
      <p:sp>
        <p:nvSpPr>
          <p:cNvPr id="7" name="TextBox 6"/>
          <p:cNvSpPr txBox="1"/>
          <p:nvPr/>
        </p:nvSpPr>
        <p:spPr>
          <a:xfrm>
            <a:off x="914400" y="4526280"/>
            <a:ext cx="10332720" cy="365760"/>
          </a:xfrm>
          <a:prstGeom prst="rect">
            <a:avLst/>
          </a:prstGeom>
          <a:noFill/>
        </p:spPr>
        <p:txBody>
          <a:bodyPr wrap="square" anchor="t">
            <a:spAutoFit/>
          </a:bodyPr>
          <a:lstStyle/>
          <a:p>
            <a:pPr algn="ctr">
              <a:lnSpc>
                <a:spcPct val="100000"/>
              </a:lnSpc>
            </a:pPr>
            <a:r>
              <a:rPr sz="1400" b="0" i="0">
                <a:solidFill>
                  <a:srgbClr val="5B6470"/>
                </a:solidFill>
                <a:latin typeface="Calibri"/>
              </a:rPr>
              <a:t>github.com/Potchara1411/Digital-history-project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